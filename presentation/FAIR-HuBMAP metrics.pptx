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Domine" panose="02040503040403060204" pitchFamily="18" charset="0"/>
      <p:regular r:id="rId4"/>
      <p:bold r:id="rId5"/>
    </p:embeddedFont>
    <p:embeddedFont>
      <p:font typeface="Montserrat ExtraBold" panose="00000900000000000000" pitchFamily="2" charset="77"/>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736">
          <p15:clr>
            <a:srgbClr val="0000FF"/>
          </p15:clr>
        </p15:guide>
        <p15:guide id="2" pos="27648">
          <p15:clr>
            <a:srgbClr val="FF0000"/>
          </p15:clr>
        </p15:guide>
        <p15:guide id="3">
          <p15:clr>
            <a:srgbClr val="FF0000"/>
          </p15:clr>
        </p15:guide>
        <p15:guide id="4" orient="horz">
          <p15:clr>
            <a:srgbClr val="0000FF"/>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xzAvBbtNYCfXa1unvnq2gSAriD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54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89"/>
    <p:restoredTop sz="94687"/>
  </p:normalViewPr>
  <p:slideViewPr>
    <p:cSldViewPr snapToGrid="0">
      <p:cViewPr varScale="1">
        <p:scale>
          <a:sx n="21" d="100"/>
          <a:sy n="21" d="100"/>
        </p:scale>
        <p:origin x="296" y="864"/>
      </p:cViewPr>
      <p:guideLst>
        <p:guide orient="horz" pos="20736"/>
        <p:guide pos="27648"/>
        <p:guide/>
        <p:guide orient="horz"/>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57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9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
        <p:cNvGrpSpPr/>
        <p:nvPr/>
      </p:nvGrpSpPr>
      <p:grpSpPr>
        <a:xfrm>
          <a:off x="0" y="0"/>
          <a:ext cx="0" cy="0"/>
          <a:chOff x="0" y="0"/>
          <a:chExt cx="0" cy="0"/>
        </a:xfrm>
      </p:grpSpPr>
      <p:sp>
        <p:nvSpPr>
          <p:cNvPr id="13" name="Google Shape;1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2400" dirty="0"/>
          </a:p>
        </p:txBody>
      </p:sp>
      <p:sp>
        <p:nvSpPr>
          <p:cNvPr id="14" name="Google Shape;1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145/3510454.3516830" TargetMode="External"/><Relationship Id="rId13" Type="http://schemas.openxmlformats.org/officeDocument/2006/relationships/image" Target="../media/image2.png"/><Relationship Id="rId18" Type="http://schemas.openxmlformats.org/officeDocument/2006/relationships/image" Target="../media/image7.png"/><Relationship Id="rId26" Type="http://schemas.openxmlformats.org/officeDocument/2006/relationships/image" Target="../media/image15.svg"/><Relationship Id="rId3" Type="http://schemas.openxmlformats.org/officeDocument/2006/relationships/image" Target="../media/image1.png"/><Relationship Id="rId21" Type="http://schemas.openxmlformats.org/officeDocument/2006/relationships/image" Target="../media/image10.png"/><Relationship Id="rId7" Type="http://schemas.openxmlformats.org/officeDocument/2006/relationships/hyperlink" Target="https://doi.org/10.1038/s41586-019-1629-x" TargetMode="External"/><Relationship Id="rId12" Type="http://schemas.openxmlformats.org/officeDocument/2006/relationships/hyperlink" Target="https://doi.org/10.1038/sdata.2018.118" TargetMode="External"/><Relationship Id="rId17" Type="http://schemas.openxmlformats.org/officeDocument/2006/relationships/image" Target="../media/image6.png"/><Relationship Id="rId25"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5.png"/><Relationship Id="rId20" Type="http://schemas.openxmlformats.org/officeDocument/2006/relationships/image" Target="../media/image9.svg"/><Relationship Id="rId29"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hyperlink" Target="https://doi.org/10.1109/BigData50022.2020.9378025" TargetMode="External"/><Relationship Id="rId11" Type="http://schemas.openxmlformats.org/officeDocument/2006/relationships/hyperlink" Target="https://doi.org/10.1038/sdata.2016.18" TargetMode="External"/><Relationship Id="rId24" Type="http://schemas.openxmlformats.org/officeDocument/2006/relationships/image" Target="../media/image13.svg"/><Relationship Id="rId32" Type="http://schemas.openxmlformats.org/officeDocument/2006/relationships/image" Target="../media/image21.svg"/><Relationship Id="rId5" Type="http://schemas.openxmlformats.org/officeDocument/2006/relationships/hyperlink" Target="https://doi.org/10.1371/journal.pcbi.1007854" TargetMode="External"/><Relationship Id="rId15" Type="http://schemas.openxmlformats.org/officeDocument/2006/relationships/image" Target="../media/image4.png"/><Relationship Id="rId23" Type="http://schemas.openxmlformats.org/officeDocument/2006/relationships/image" Target="../media/image12.png"/><Relationship Id="rId28" Type="http://schemas.openxmlformats.org/officeDocument/2006/relationships/image" Target="../media/image17.svg"/><Relationship Id="rId10" Type="http://schemas.openxmlformats.org/officeDocument/2006/relationships/hyperlink" Target="https://doi.org/10.1186/s13326-024-00310-5" TargetMode="External"/><Relationship Id="rId19" Type="http://schemas.openxmlformats.org/officeDocument/2006/relationships/image" Target="../media/image8.png"/><Relationship Id="rId31" Type="http://schemas.openxmlformats.org/officeDocument/2006/relationships/image" Target="../media/image20.png"/><Relationship Id="rId4" Type="http://schemas.openxmlformats.org/officeDocument/2006/relationships/hyperlink" Target="https://doi.org/10.1371/journal.pcbi.1011369" TargetMode="External"/><Relationship Id="rId9" Type="http://schemas.openxmlformats.org/officeDocument/2006/relationships/hyperlink" Target="https://doi.org/10.1016/j.impact.2022.100402" TargetMode="External"/><Relationship Id="rId14" Type="http://schemas.openxmlformats.org/officeDocument/2006/relationships/image" Target="../media/image3.png"/><Relationship Id="rId22" Type="http://schemas.openxmlformats.org/officeDocument/2006/relationships/image" Target="../media/image11.svg"/><Relationship Id="rId27" Type="http://schemas.openxmlformats.org/officeDocument/2006/relationships/image" Target="../media/image16.png"/><Relationship Id="rId30"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alpha val="0"/>
          </a:schemeClr>
        </a:solidFill>
        <a:effectLst/>
      </p:bgPr>
    </p:bg>
    <p:spTree>
      <p:nvGrpSpPr>
        <p:cNvPr id="1" name="Shape 15"/>
        <p:cNvGrpSpPr/>
        <p:nvPr/>
      </p:nvGrpSpPr>
      <p:grpSpPr>
        <a:xfrm>
          <a:off x="0" y="0"/>
          <a:ext cx="0" cy="0"/>
          <a:chOff x="0" y="0"/>
          <a:chExt cx="0" cy="0"/>
        </a:xfrm>
      </p:grpSpPr>
      <p:sp>
        <p:nvSpPr>
          <p:cNvPr id="54" name="Google Shape;29;p1">
            <a:extLst>
              <a:ext uri="{FF2B5EF4-FFF2-40B4-BE49-F238E27FC236}">
                <a16:creationId xmlns:a16="http://schemas.microsoft.com/office/drawing/2014/main" id="{EAFB3770-A639-298C-65E6-2A6CB8F65A1F}"/>
              </a:ext>
            </a:extLst>
          </p:cNvPr>
          <p:cNvSpPr/>
          <p:nvPr/>
        </p:nvSpPr>
        <p:spPr>
          <a:xfrm>
            <a:off x="405593" y="23837549"/>
            <a:ext cx="10058400" cy="3259776"/>
          </a:xfrm>
          <a:prstGeom prst="roundRect">
            <a:avLst>
              <a:gd name="adj" fmla="val 2004"/>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dirty="0">
              <a:solidFill>
                <a:schemeClr val="dk1"/>
              </a:solidFill>
              <a:latin typeface="Arial"/>
              <a:ea typeface="Arial"/>
              <a:cs typeface="Arial"/>
              <a:sym typeface="Arial"/>
            </a:endParaRPr>
          </a:p>
        </p:txBody>
      </p:sp>
      <p:sp>
        <p:nvSpPr>
          <p:cNvPr id="16" name="Google Shape;16;p1"/>
          <p:cNvSpPr/>
          <p:nvPr/>
        </p:nvSpPr>
        <p:spPr>
          <a:xfrm>
            <a:off x="527001" y="679928"/>
            <a:ext cx="43087127" cy="6252000"/>
          </a:xfrm>
          <a:prstGeom prst="rect">
            <a:avLst/>
          </a:prstGeom>
          <a:solidFill>
            <a:schemeClr val="accent2">
              <a:lumMod val="40000"/>
              <a:lumOff val="60000"/>
            </a:schemeClr>
          </a:solidFill>
          <a:ln>
            <a:noFill/>
          </a:ln>
        </p:spPr>
        <p:txBody>
          <a:bodyPr spcFirstLastPara="1" wrap="square" lIns="128000" tIns="64000" rIns="128000" bIns="64000" anchor="ctr" anchorCtr="0">
            <a:noAutofit/>
          </a:bodyPr>
          <a:lstStyle/>
          <a:p>
            <a:pPr marL="0" marR="0" lvl="0" indent="0" algn="l" rtl="0">
              <a:lnSpc>
                <a:spcPct val="100000"/>
              </a:lnSpc>
              <a:spcBef>
                <a:spcPts val="0"/>
              </a:spcBef>
              <a:spcAft>
                <a:spcPts val="0"/>
              </a:spcAft>
              <a:buClr>
                <a:srgbClr val="000000"/>
              </a:buClr>
              <a:buSzPts val="8698"/>
              <a:buFont typeface="Arial"/>
              <a:buNone/>
            </a:pPr>
            <a:endParaRPr sz="8698" b="0" i="0" u="none" strike="noStrike" cap="none">
              <a:solidFill>
                <a:schemeClr val="bg1"/>
              </a:solidFill>
              <a:latin typeface="Arial"/>
              <a:ea typeface="Arial"/>
              <a:cs typeface="Arial"/>
              <a:sym typeface="Arial"/>
            </a:endParaRPr>
          </a:p>
        </p:txBody>
      </p:sp>
      <p:sp>
        <p:nvSpPr>
          <p:cNvPr id="17" name="Google Shape;17;p1"/>
          <p:cNvSpPr txBox="1"/>
          <p:nvPr/>
        </p:nvSpPr>
        <p:spPr>
          <a:xfrm>
            <a:off x="6087156" y="429435"/>
            <a:ext cx="30004200" cy="3651300"/>
          </a:xfrm>
          <a:prstGeom prst="rect">
            <a:avLst/>
          </a:prstGeom>
          <a:noFill/>
          <a:ln>
            <a:noFill/>
          </a:ln>
        </p:spPr>
        <p:txBody>
          <a:bodyPr spcFirstLastPara="1" wrap="square" lIns="128000" tIns="64000" rIns="128000" bIns="64000" anchor="ctr" anchorCtr="0">
            <a:noAutofit/>
          </a:bodyPr>
          <a:lstStyle/>
          <a:p>
            <a:pPr lvl="0" algn="ctr">
              <a:lnSpc>
                <a:spcPct val="115000"/>
              </a:lnSpc>
              <a:spcBef>
                <a:spcPts val="1200"/>
              </a:spcBef>
              <a:buClr>
                <a:schemeClr val="dk1"/>
              </a:buClr>
              <a:buSzPts val="1100"/>
            </a:pPr>
            <a:r>
              <a:rPr lang="en-US" sz="7200" dirty="0">
                <a:solidFill>
                  <a:schemeClr val="tx1"/>
                </a:solidFill>
              </a:rPr>
              <a:t>Developing, assessing and visualizing FAIR metrics for biomedical datasets in </a:t>
            </a:r>
            <a:r>
              <a:rPr lang="en-US" sz="7200" dirty="0" err="1">
                <a:solidFill>
                  <a:schemeClr val="tx1"/>
                </a:solidFill>
              </a:rPr>
              <a:t>HuBMAP</a:t>
            </a:r>
            <a:endParaRPr lang="en-US" sz="71400" b="1" i="0" u="none" strike="noStrike" cap="none" dirty="0">
              <a:solidFill>
                <a:schemeClr val="tx1"/>
              </a:solidFill>
            </a:endParaRPr>
          </a:p>
        </p:txBody>
      </p:sp>
      <p:sp>
        <p:nvSpPr>
          <p:cNvPr id="18" name="Google Shape;18;p1"/>
          <p:cNvSpPr txBox="1"/>
          <p:nvPr/>
        </p:nvSpPr>
        <p:spPr>
          <a:xfrm>
            <a:off x="5081837" y="3883562"/>
            <a:ext cx="32051100" cy="2537602"/>
          </a:xfrm>
          <a:prstGeom prst="rect">
            <a:avLst/>
          </a:prstGeom>
          <a:noFill/>
          <a:ln>
            <a:noFill/>
          </a:ln>
        </p:spPr>
        <p:txBody>
          <a:bodyPr spcFirstLastPara="1" wrap="square" lIns="128000" tIns="64000" rIns="128000" bIns="64000" anchor="t" anchorCtr="0">
            <a:spAutoFit/>
          </a:bodyPr>
          <a:lstStyle/>
          <a:p>
            <a:pPr marL="0" marR="0" lvl="0" indent="0" algn="ctr" rtl="0">
              <a:lnSpc>
                <a:spcPct val="100000"/>
              </a:lnSpc>
              <a:spcBef>
                <a:spcPts val="0"/>
              </a:spcBef>
              <a:spcAft>
                <a:spcPts val="0"/>
              </a:spcAft>
              <a:buClr>
                <a:schemeClr val="lt1"/>
              </a:buClr>
              <a:buSzPts val="5600"/>
              <a:buFont typeface="Arial"/>
              <a:buNone/>
            </a:pPr>
            <a:r>
              <a:rPr lang="en-US" sz="4500" b="1" i="0" u="none" strike="noStrike" cap="none" dirty="0">
                <a:solidFill>
                  <a:schemeClr val="tx1"/>
                </a:solidFill>
              </a:rPr>
              <a:t>Eduardo J. Figueroa Santiago</a:t>
            </a:r>
            <a:r>
              <a:rPr lang="en-US" sz="4500" i="0" u="none" strike="noStrike" cap="none" dirty="0">
                <a:solidFill>
                  <a:schemeClr val="tx1"/>
                </a:solidFill>
              </a:rPr>
              <a:t>, Ivan Cao-Berg</a:t>
            </a:r>
            <a:endParaRPr sz="300" i="0" u="none" strike="noStrike" cap="none" dirty="0">
              <a:solidFill>
                <a:schemeClr val="tx1"/>
              </a:solidFill>
            </a:endParaRPr>
          </a:p>
          <a:p>
            <a:pPr marL="0" marR="0" lvl="0" indent="0" algn="ctr" rtl="0">
              <a:lnSpc>
                <a:spcPct val="100000"/>
              </a:lnSpc>
              <a:spcBef>
                <a:spcPts val="1120"/>
              </a:spcBef>
              <a:spcAft>
                <a:spcPts val="0"/>
              </a:spcAft>
              <a:buClr>
                <a:schemeClr val="lt1"/>
              </a:buClr>
              <a:buSzPts val="5600"/>
              <a:buFont typeface="Arial"/>
              <a:buNone/>
            </a:pPr>
            <a:r>
              <a:rPr lang="en-US" sz="2800" i="0" u="none" strike="noStrike" cap="none" dirty="0">
                <a:solidFill>
                  <a:schemeClr val="tx1"/>
                </a:solidFill>
              </a:rPr>
              <a:t>Carnegie Mellon University</a:t>
            </a:r>
          </a:p>
          <a:p>
            <a:pPr marL="0" marR="0" lvl="0" indent="0" algn="ctr" rtl="0">
              <a:lnSpc>
                <a:spcPct val="100000"/>
              </a:lnSpc>
              <a:spcBef>
                <a:spcPts val="1120"/>
              </a:spcBef>
              <a:spcAft>
                <a:spcPts val="0"/>
              </a:spcAft>
              <a:buClr>
                <a:schemeClr val="lt1"/>
              </a:buClr>
              <a:buSzPts val="5600"/>
              <a:buFont typeface="Arial"/>
              <a:buNone/>
            </a:pPr>
            <a:r>
              <a:rPr lang="en-US" sz="2800" dirty="0">
                <a:solidFill>
                  <a:schemeClr val="tx1"/>
                </a:solidFill>
              </a:rPr>
              <a:t> </a:t>
            </a:r>
            <a:r>
              <a:rPr lang="en-US" sz="2800" i="0" u="none" strike="noStrike" cap="none" dirty="0">
                <a:solidFill>
                  <a:schemeClr val="tx1"/>
                </a:solidFill>
              </a:rPr>
              <a:t>Pittsburgh Supercomputing Center, </a:t>
            </a:r>
          </a:p>
          <a:p>
            <a:pPr marL="0" marR="0" lvl="0" indent="0" algn="ctr" rtl="0">
              <a:lnSpc>
                <a:spcPct val="100000"/>
              </a:lnSpc>
              <a:spcBef>
                <a:spcPts val="1120"/>
              </a:spcBef>
              <a:spcAft>
                <a:spcPts val="0"/>
              </a:spcAft>
              <a:buClr>
                <a:schemeClr val="lt1"/>
              </a:buClr>
              <a:buSzPts val="5600"/>
              <a:buFont typeface="Arial"/>
              <a:buNone/>
            </a:pPr>
            <a:r>
              <a:rPr lang="en-US" sz="2800" dirty="0">
                <a:solidFill>
                  <a:schemeClr val="tx1"/>
                </a:solidFill>
              </a:rPr>
              <a:t>University of Puerto Rico, Rio Piedras Campus</a:t>
            </a:r>
            <a:endParaRPr lang="en-US" sz="2800" i="0" u="none" strike="noStrike" cap="none" dirty="0">
              <a:solidFill>
                <a:schemeClr val="tx1"/>
              </a:solidFill>
            </a:endParaRPr>
          </a:p>
        </p:txBody>
      </p:sp>
      <p:sp>
        <p:nvSpPr>
          <p:cNvPr id="19" name="Google Shape;19;p1"/>
          <p:cNvSpPr/>
          <p:nvPr/>
        </p:nvSpPr>
        <p:spPr>
          <a:xfrm>
            <a:off x="33304500" y="25405332"/>
            <a:ext cx="10322930" cy="2475000"/>
          </a:xfrm>
          <a:prstGeom prst="roundRect">
            <a:avLst>
              <a:gd name="adj" fmla="val 3948"/>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a:solidFill>
                <a:schemeClr val="dk1"/>
              </a:solidFill>
              <a:latin typeface="Arial"/>
              <a:ea typeface="Arial"/>
              <a:cs typeface="Arial"/>
              <a:sym typeface="Arial"/>
            </a:endParaRPr>
          </a:p>
        </p:txBody>
      </p:sp>
      <p:sp>
        <p:nvSpPr>
          <p:cNvPr id="20" name="Google Shape;20;p1"/>
          <p:cNvSpPr txBox="1"/>
          <p:nvPr/>
        </p:nvSpPr>
        <p:spPr>
          <a:xfrm>
            <a:off x="33542275" y="26243093"/>
            <a:ext cx="9883550" cy="120028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rgbClr val="595959"/>
                </a:solidFill>
                <a:latin typeface="Domine"/>
                <a:ea typeface="Domine"/>
                <a:cs typeface="Domine"/>
                <a:sym typeface="Domine"/>
              </a:rPr>
              <a:t>I want to acknowledge the Carnegie Mellon University and the Pittsburgh Supercomputing Center for the opportunity to be part of the Summer internship program. Also to mentors and team I have worked with to prepare, organize and develop this Project. </a:t>
            </a:r>
            <a:endParaRPr sz="1800" b="0" i="0" u="none" strike="noStrike" cap="none" dirty="0">
              <a:solidFill>
                <a:srgbClr val="595959"/>
              </a:solidFill>
              <a:latin typeface="Domine"/>
              <a:ea typeface="Domine"/>
              <a:cs typeface="Domine"/>
              <a:sym typeface="Domine"/>
            </a:endParaRPr>
          </a:p>
        </p:txBody>
      </p:sp>
      <p:sp>
        <p:nvSpPr>
          <p:cNvPr id="21" name="Google Shape;21;p1"/>
          <p:cNvSpPr txBox="1"/>
          <p:nvPr/>
        </p:nvSpPr>
        <p:spPr>
          <a:xfrm>
            <a:off x="33609307" y="25477350"/>
            <a:ext cx="914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3F3F3F"/>
                </a:solidFill>
                <a:latin typeface="Montserrat ExtraBold"/>
                <a:ea typeface="Montserrat ExtraBold"/>
                <a:cs typeface="Montserrat ExtraBold"/>
                <a:sym typeface="Montserrat ExtraBold"/>
              </a:rPr>
              <a:t>Acknowledgements</a:t>
            </a:r>
            <a:endParaRPr sz="1400" b="0" i="0" u="none" strike="noStrike" cap="none" dirty="0">
              <a:solidFill>
                <a:srgbClr val="000000"/>
              </a:solidFill>
              <a:latin typeface="Arial"/>
              <a:ea typeface="Arial"/>
              <a:cs typeface="Arial"/>
              <a:sym typeface="Arial"/>
            </a:endParaRPr>
          </a:p>
        </p:txBody>
      </p:sp>
      <p:sp>
        <p:nvSpPr>
          <p:cNvPr id="22" name="Google Shape;22;p1"/>
          <p:cNvSpPr/>
          <p:nvPr/>
        </p:nvSpPr>
        <p:spPr>
          <a:xfrm>
            <a:off x="33304499" y="14935509"/>
            <a:ext cx="10322929" cy="7296521"/>
          </a:xfrm>
          <a:prstGeom prst="roundRect">
            <a:avLst>
              <a:gd name="adj" fmla="val 1477"/>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a:solidFill>
                <a:schemeClr val="dk1"/>
              </a:solidFill>
              <a:latin typeface="Arial"/>
              <a:ea typeface="Arial"/>
              <a:cs typeface="Arial"/>
              <a:sym typeface="Arial"/>
            </a:endParaRPr>
          </a:p>
        </p:txBody>
      </p:sp>
      <p:sp>
        <p:nvSpPr>
          <p:cNvPr id="23" name="Google Shape;23;p1"/>
          <p:cNvSpPr txBox="1"/>
          <p:nvPr/>
        </p:nvSpPr>
        <p:spPr>
          <a:xfrm>
            <a:off x="33735075" y="15615025"/>
            <a:ext cx="9258600" cy="64629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3600" b="1" dirty="0">
                <a:solidFill>
                  <a:schemeClr val="lt1"/>
                </a:solidFill>
              </a:rPr>
              <a:t>Conclusion</a:t>
            </a:r>
            <a:endParaRPr sz="1900" dirty="0">
              <a:solidFill>
                <a:schemeClr val="lt1"/>
              </a:solidFill>
            </a:endParaRPr>
          </a:p>
        </p:txBody>
      </p:sp>
      <p:sp>
        <p:nvSpPr>
          <p:cNvPr id="24" name="Google Shape;24;p1"/>
          <p:cNvSpPr/>
          <p:nvPr/>
        </p:nvSpPr>
        <p:spPr>
          <a:xfrm>
            <a:off x="33304499" y="22521334"/>
            <a:ext cx="10322930" cy="2734453"/>
          </a:xfrm>
          <a:prstGeom prst="roundRect">
            <a:avLst>
              <a:gd name="adj" fmla="val 1592"/>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dirty="0">
              <a:solidFill>
                <a:schemeClr val="dk1"/>
              </a:solidFill>
              <a:latin typeface="Arial"/>
              <a:ea typeface="Arial"/>
              <a:cs typeface="Arial"/>
              <a:sym typeface="Arial"/>
            </a:endParaRPr>
          </a:p>
        </p:txBody>
      </p:sp>
      <p:sp>
        <p:nvSpPr>
          <p:cNvPr id="26" name="Google Shape;26;p1"/>
          <p:cNvSpPr txBox="1"/>
          <p:nvPr/>
        </p:nvSpPr>
        <p:spPr>
          <a:xfrm>
            <a:off x="33554926" y="22792159"/>
            <a:ext cx="914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3F3F3F"/>
                </a:solidFill>
                <a:latin typeface="Montserrat ExtraBold"/>
                <a:ea typeface="Montserrat ExtraBold"/>
                <a:cs typeface="Montserrat ExtraBold"/>
                <a:sym typeface="Montserrat ExtraBold"/>
              </a:rPr>
              <a:t>Future work</a:t>
            </a:r>
            <a:endParaRPr sz="1400" b="0" i="0" u="none" strike="noStrike" cap="none" dirty="0">
              <a:solidFill>
                <a:srgbClr val="000000"/>
              </a:solidFill>
              <a:latin typeface="Arial"/>
              <a:ea typeface="Arial"/>
              <a:cs typeface="Arial"/>
              <a:sym typeface="Arial"/>
            </a:endParaRPr>
          </a:p>
        </p:txBody>
      </p:sp>
      <p:sp>
        <p:nvSpPr>
          <p:cNvPr id="27" name="Google Shape;27;p1"/>
          <p:cNvSpPr/>
          <p:nvPr/>
        </p:nvSpPr>
        <p:spPr>
          <a:xfrm>
            <a:off x="483550" y="7102286"/>
            <a:ext cx="10058400" cy="9244510"/>
          </a:xfrm>
          <a:prstGeom prst="roundRect">
            <a:avLst>
              <a:gd name="adj" fmla="val 1711"/>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a:buSzPts val="9600"/>
            </a:pPr>
            <a:endParaRPr lang="en-US" sz="2000" dirty="0">
              <a:solidFill>
                <a:schemeClr val="bg1"/>
              </a:solidFill>
            </a:endParaRPr>
          </a:p>
          <a:p>
            <a:pPr algn="ctr">
              <a:buSzPts val="9600"/>
            </a:pPr>
            <a:endParaRPr lang="en-US" sz="2000" dirty="0">
              <a:solidFill>
                <a:schemeClr val="bg1"/>
              </a:solidFill>
            </a:endParaRPr>
          </a:p>
          <a:p>
            <a:pPr algn="ctr">
              <a:buSzPts val="9600"/>
            </a:pPr>
            <a:endParaRPr lang="en-US" sz="2000" dirty="0">
              <a:solidFill>
                <a:schemeClr val="bg1"/>
              </a:solidFill>
            </a:endParaRPr>
          </a:p>
          <a:p>
            <a:pPr algn="ctr">
              <a:buSzPts val="9600"/>
            </a:pPr>
            <a:r>
              <a:rPr lang="en-US" sz="2000" dirty="0">
                <a:solidFill>
                  <a:schemeClr val="bg1"/>
                </a:solidFill>
              </a:rPr>
              <a:t>As science evolves, researchers face growing challenges in handling large-scale datasets, complex workflows, and effective visualization. The Human </a:t>
            </a:r>
            <a:r>
              <a:rPr lang="en-US" sz="2000" dirty="0" err="1">
                <a:solidFill>
                  <a:schemeClr val="bg1"/>
                </a:solidFill>
              </a:rPr>
              <a:t>BioMolecular</a:t>
            </a:r>
            <a:r>
              <a:rPr lang="en-US" sz="2000" dirty="0">
                <a:solidFill>
                  <a:schemeClr val="bg1"/>
                </a:solidFill>
              </a:rPr>
              <a:t> Atlas Program (</a:t>
            </a:r>
            <a:r>
              <a:rPr lang="en-US" sz="2000" dirty="0" err="1">
                <a:solidFill>
                  <a:schemeClr val="bg1"/>
                </a:solidFill>
              </a:rPr>
              <a:t>HuBMAP</a:t>
            </a:r>
            <a:r>
              <a:rPr lang="en-US" sz="2000" dirty="0">
                <a:solidFill>
                  <a:schemeClr val="bg1"/>
                </a:solidFill>
              </a:rPr>
              <a:t>) was developed to address these challenges by providing a central platform to store, analyze, and share data. However, making data available is not enough—ensuring that it is Findable, Accessible, Interoperable, and Reusable (FAIR) is critical for maximizing its value to the research community. The importance of </a:t>
            </a:r>
            <a:r>
              <a:rPr lang="en-US" sz="2000" dirty="0" err="1">
                <a:solidFill>
                  <a:schemeClr val="bg1"/>
                </a:solidFill>
              </a:rPr>
              <a:t>FAIRness</a:t>
            </a:r>
            <a:r>
              <a:rPr lang="en-US" sz="2000" dirty="0">
                <a:solidFill>
                  <a:schemeClr val="bg1"/>
                </a:solidFill>
              </a:rPr>
              <a:t> lies in transforming datasets from static collections into resources that can be reliably discovered, understood, and reused. In </a:t>
            </a:r>
            <a:r>
              <a:rPr lang="en-US" sz="2000" dirty="0" err="1">
                <a:solidFill>
                  <a:schemeClr val="bg1"/>
                </a:solidFill>
              </a:rPr>
              <a:t>HuBMAP</a:t>
            </a:r>
            <a:r>
              <a:rPr lang="en-US" sz="2000" dirty="0">
                <a:solidFill>
                  <a:schemeClr val="bg1"/>
                </a:solidFill>
              </a:rPr>
              <a:t>, </a:t>
            </a:r>
            <a:r>
              <a:rPr lang="en-US" sz="2000" dirty="0" err="1">
                <a:solidFill>
                  <a:schemeClr val="bg1"/>
                </a:solidFill>
              </a:rPr>
              <a:t>FAIRness</a:t>
            </a:r>
            <a:r>
              <a:rPr lang="en-US" sz="2000" dirty="0">
                <a:solidFill>
                  <a:schemeClr val="bg1"/>
                </a:solidFill>
              </a:rPr>
              <a:t> is not only a claim but a measurable quality. A key difficulty was the absence of a static list of FAIR metrics; existing resources offered only broad guidelines, and every project has unique needs. To address this, we reviewed published </a:t>
            </a:r>
            <a:r>
              <a:rPr lang="en-US" sz="2000" dirty="0" err="1">
                <a:solidFill>
                  <a:schemeClr val="bg1"/>
                </a:solidFill>
              </a:rPr>
              <a:t>FAIRness</a:t>
            </a:r>
            <a:r>
              <a:rPr lang="en-US" sz="2000" dirty="0">
                <a:solidFill>
                  <a:schemeClr val="bg1"/>
                </a:solidFill>
              </a:rPr>
              <a:t> frameworks, evaluated their criteria, and synthesized a set of tailored FAIR metrics for </a:t>
            </a:r>
            <a:r>
              <a:rPr lang="en-US" sz="2000" dirty="0" err="1">
                <a:solidFill>
                  <a:schemeClr val="bg1"/>
                </a:solidFill>
              </a:rPr>
              <a:t>HuBMAP</a:t>
            </a:r>
            <a:r>
              <a:rPr lang="en-US" sz="2000" dirty="0">
                <a:solidFill>
                  <a:schemeClr val="bg1"/>
                </a:solidFill>
              </a:rPr>
              <a:t>. These metrics were organized into the four FAIR categories—Findable, Accessible, Interoperable, and Reusable—and applied to the different dataset versions and assay types within the project. This framework enables assessment from multiple perspectives: Users can evaluate dataset quality without exposing sensitive information, Uploaders gain guidance on how to improve completeness and transparency for each dataset, Curators can verify gaps and track progress and Administrators can monitor overall </a:t>
            </a:r>
            <a:r>
              <a:rPr lang="en-US" sz="2000" dirty="0" err="1">
                <a:solidFill>
                  <a:schemeClr val="bg1"/>
                </a:solidFill>
              </a:rPr>
              <a:t>FAIRness</a:t>
            </a:r>
            <a:r>
              <a:rPr lang="en-US" sz="2000" dirty="0">
                <a:solidFill>
                  <a:schemeClr val="bg1"/>
                </a:solidFill>
              </a:rPr>
              <a:t> across the system. To complement the metrics, </a:t>
            </a:r>
            <a:r>
              <a:rPr lang="en-US" sz="2000" dirty="0" err="1">
                <a:solidFill>
                  <a:schemeClr val="bg1"/>
                </a:solidFill>
              </a:rPr>
              <a:t>HuBMAP</a:t>
            </a:r>
            <a:r>
              <a:rPr lang="en-US" sz="2000" dirty="0">
                <a:solidFill>
                  <a:schemeClr val="bg1"/>
                </a:solidFill>
              </a:rPr>
              <a:t> also incorporates graphical tools that display how datasets score within each FAIR category. These visualizations provide a clear overview of dataset performance and allow exploration by </a:t>
            </a:r>
            <a:r>
              <a:rPr lang="en-US" sz="2000" dirty="0" err="1">
                <a:solidFill>
                  <a:schemeClr val="bg1"/>
                </a:solidFill>
              </a:rPr>
              <a:t>HuBMAP</a:t>
            </a:r>
            <a:r>
              <a:rPr lang="en-US" sz="2000" dirty="0">
                <a:solidFill>
                  <a:schemeClr val="bg1"/>
                </a:solidFill>
              </a:rPr>
              <a:t> ID, by institution, or across the entire collection. In summary, </a:t>
            </a:r>
            <a:r>
              <a:rPr lang="en-US" sz="2000" dirty="0" err="1">
                <a:solidFill>
                  <a:schemeClr val="bg1"/>
                </a:solidFill>
              </a:rPr>
              <a:t>FAIRness</a:t>
            </a:r>
            <a:r>
              <a:rPr lang="en-US" sz="2000" dirty="0">
                <a:solidFill>
                  <a:schemeClr val="bg1"/>
                </a:solidFill>
              </a:rPr>
              <a:t> metrics in </a:t>
            </a:r>
            <a:r>
              <a:rPr lang="en-US" sz="2000" dirty="0" err="1">
                <a:solidFill>
                  <a:schemeClr val="bg1"/>
                </a:solidFill>
              </a:rPr>
              <a:t>HuBMAP</a:t>
            </a:r>
            <a:r>
              <a:rPr lang="en-US" sz="2000" dirty="0">
                <a:solidFill>
                  <a:schemeClr val="bg1"/>
                </a:solidFill>
              </a:rPr>
              <a:t> were designed and implemented to ensure data is not only available but also usable, transparent, and valuable for advancing biomedical research. </a:t>
            </a:r>
            <a:endParaRPr sz="16600" b="0" i="0" u="none" strike="noStrike" cap="none" dirty="0">
              <a:solidFill>
                <a:schemeClr val="bg1"/>
              </a:solidFill>
              <a:latin typeface="Arial"/>
              <a:ea typeface="Arial"/>
              <a:cs typeface="Arial"/>
              <a:sym typeface="Arial"/>
            </a:endParaRPr>
          </a:p>
        </p:txBody>
      </p:sp>
      <p:sp>
        <p:nvSpPr>
          <p:cNvPr id="28" name="Google Shape;28;p1"/>
          <p:cNvSpPr txBox="1"/>
          <p:nvPr/>
        </p:nvSpPr>
        <p:spPr>
          <a:xfrm>
            <a:off x="922569" y="7320823"/>
            <a:ext cx="9144000" cy="64629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3600"/>
              <a:buFont typeface="Arial"/>
              <a:buNone/>
            </a:pPr>
            <a:r>
              <a:rPr lang="en-US" sz="3600" b="1" dirty="0">
                <a:solidFill>
                  <a:schemeClr val="lt1"/>
                </a:solidFill>
              </a:rPr>
              <a:t>Abstract</a:t>
            </a:r>
            <a:endParaRPr sz="1900" dirty="0">
              <a:solidFill>
                <a:schemeClr val="lt1"/>
              </a:solidFill>
            </a:endParaRPr>
          </a:p>
        </p:txBody>
      </p:sp>
      <p:sp>
        <p:nvSpPr>
          <p:cNvPr id="29" name="Google Shape;29;p1"/>
          <p:cNvSpPr/>
          <p:nvPr/>
        </p:nvSpPr>
        <p:spPr>
          <a:xfrm>
            <a:off x="405593" y="16590570"/>
            <a:ext cx="10058400" cy="7132493"/>
          </a:xfrm>
          <a:prstGeom prst="roundRect">
            <a:avLst>
              <a:gd name="adj" fmla="val 2004"/>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a:solidFill>
                <a:schemeClr val="dk1"/>
              </a:solidFill>
              <a:latin typeface="Arial"/>
              <a:ea typeface="Arial"/>
              <a:cs typeface="Arial"/>
              <a:sym typeface="Arial"/>
            </a:endParaRPr>
          </a:p>
        </p:txBody>
      </p:sp>
      <p:sp>
        <p:nvSpPr>
          <p:cNvPr id="30" name="Google Shape;30;p1"/>
          <p:cNvSpPr txBox="1"/>
          <p:nvPr/>
        </p:nvSpPr>
        <p:spPr>
          <a:xfrm>
            <a:off x="940800" y="16963269"/>
            <a:ext cx="9144000" cy="64629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3600"/>
              <a:buFont typeface="Arial"/>
              <a:buNone/>
            </a:pPr>
            <a:r>
              <a:rPr lang="en-US" sz="3600" b="1" dirty="0">
                <a:solidFill>
                  <a:srgbClr val="3F3F3F"/>
                </a:solidFill>
              </a:rPr>
              <a:t>Introduction</a:t>
            </a:r>
            <a:endParaRPr sz="1900" dirty="0">
              <a:solidFill>
                <a:schemeClr val="dk1"/>
              </a:solidFill>
            </a:endParaRPr>
          </a:p>
        </p:txBody>
      </p:sp>
      <p:sp>
        <p:nvSpPr>
          <p:cNvPr id="31" name="Google Shape;31;p1"/>
          <p:cNvSpPr/>
          <p:nvPr/>
        </p:nvSpPr>
        <p:spPr>
          <a:xfrm>
            <a:off x="384745" y="27227477"/>
            <a:ext cx="10058400" cy="5501358"/>
          </a:xfrm>
          <a:prstGeom prst="roundRect">
            <a:avLst>
              <a:gd name="adj" fmla="val 1822"/>
            </a:avLst>
          </a:prstGeom>
          <a:solidFill>
            <a:srgbClr val="E3E3E3"/>
          </a:solidFill>
          <a:ln>
            <a:noFill/>
          </a:ln>
        </p:spPr>
        <p:txBody>
          <a:bodyPr spcFirstLastPara="1" wrap="square" lIns="91425" tIns="45700" rIns="91425" bIns="45700" anchor="ctr" anchorCtr="0">
            <a:noAutofit/>
          </a:bodyPr>
          <a:lstStyle/>
          <a:p>
            <a:pPr lvl="0">
              <a:buClr>
                <a:schemeClr val="dk1"/>
              </a:buClr>
              <a:buSzPts val="1100"/>
            </a:pPr>
            <a:endParaRPr lang="en-US" sz="1600" dirty="0">
              <a:solidFill>
                <a:schemeClr val="dk1"/>
              </a:solidFill>
            </a:endParaRPr>
          </a:p>
          <a:p>
            <a:pPr lvl="0">
              <a:buClr>
                <a:schemeClr val="dk1"/>
              </a:buClr>
              <a:buSzPts val="1100"/>
            </a:pPr>
            <a:endParaRPr lang="en-US" sz="1600" dirty="0">
              <a:solidFill>
                <a:schemeClr val="dk1"/>
              </a:solidFill>
            </a:endParaRPr>
          </a:p>
        </p:txBody>
      </p:sp>
      <p:sp>
        <p:nvSpPr>
          <p:cNvPr id="34" name="Google Shape;34;p1"/>
          <p:cNvSpPr/>
          <p:nvPr/>
        </p:nvSpPr>
        <p:spPr>
          <a:xfrm>
            <a:off x="10905453" y="23274068"/>
            <a:ext cx="22101000" cy="9415181"/>
          </a:xfrm>
          <a:prstGeom prst="roundRect">
            <a:avLst>
              <a:gd name="adj" fmla="val 1937"/>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b="0" i="0" u="none" strike="noStrike" cap="none">
                <a:solidFill>
                  <a:schemeClr val="dk1"/>
                </a:solidFill>
                <a:latin typeface="Arial"/>
                <a:ea typeface="Arial"/>
                <a:cs typeface="Arial"/>
                <a:sym typeface="Arial"/>
              </a:rPr>
              <a:t> </a:t>
            </a:r>
            <a:endParaRPr sz="9600" b="0" i="0" u="none" strike="noStrike" cap="none">
              <a:solidFill>
                <a:schemeClr val="dk1"/>
              </a:solidFill>
              <a:latin typeface="Arial"/>
              <a:ea typeface="Arial"/>
              <a:cs typeface="Arial"/>
              <a:sym typeface="Arial"/>
            </a:endParaRPr>
          </a:p>
        </p:txBody>
      </p:sp>
      <p:sp>
        <p:nvSpPr>
          <p:cNvPr id="36" name="Google Shape;36;p1"/>
          <p:cNvSpPr txBox="1"/>
          <p:nvPr/>
        </p:nvSpPr>
        <p:spPr>
          <a:xfrm>
            <a:off x="11422478" y="23514404"/>
            <a:ext cx="20833722"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3F3F3F"/>
                </a:solidFill>
                <a:latin typeface="Montserrat ExtraBold"/>
                <a:ea typeface="Montserrat ExtraBold"/>
                <a:cs typeface="Montserrat ExtraBold"/>
                <a:sym typeface="Montserrat ExtraBold"/>
              </a:rPr>
              <a:t>Results:  Display FAIR Metrics</a:t>
            </a:r>
            <a:endParaRPr sz="1400" b="0" i="0" u="none" strike="noStrike" cap="none" dirty="0">
              <a:solidFill>
                <a:srgbClr val="000000"/>
              </a:solidFill>
              <a:latin typeface="Arial"/>
              <a:ea typeface="Arial"/>
              <a:cs typeface="Arial"/>
              <a:sym typeface="Arial"/>
            </a:endParaRPr>
          </a:p>
        </p:txBody>
      </p:sp>
      <p:pic>
        <p:nvPicPr>
          <p:cNvPr id="37" name="Google Shape;37;p1"/>
          <p:cNvPicPr preferRelativeResize="0"/>
          <p:nvPr/>
        </p:nvPicPr>
        <p:blipFill rotWithShape="1">
          <a:blip r:embed="rId3">
            <a:alphaModFix/>
          </a:blip>
          <a:srcRect/>
          <a:stretch/>
        </p:blipFill>
        <p:spPr>
          <a:xfrm>
            <a:off x="1306479" y="1300685"/>
            <a:ext cx="4369718" cy="4381433"/>
          </a:xfrm>
          <a:prstGeom prst="rect">
            <a:avLst/>
          </a:prstGeom>
          <a:noFill/>
          <a:ln>
            <a:noFill/>
          </a:ln>
        </p:spPr>
      </p:pic>
      <p:sp>
        <p:nvSpPr>
          <p:cNvPr id="47" name="Google Shape;47;p1"/>
          <p:cNvSpPr/>
          <p:nvPr/>
        </p:nvSpPr>
        <p:spPr>
          <a:xfrm>
            <a:off x="33304499" y="28029877"/>
            <a:ext cx="10322931" cy="4726948"/>
          </a:xfrm>
          <a:prstGeom prst="roundRect">
            <a:avLst>
              <a:gd name="adj" fmla="val 1592"/>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endParaRPr sz="9600" b="0" i="0" u="none" strike="noStrike" cap="none">
              <a:solidFill>
                <a:schemeClr val="dk1"/>
              </a:solidFill>
              <a:latin typeface="Arial"/>
              <a:ea typeface="Arial"/>
              <a:cs typeface="Arial"/>
              <a:sym typeface="Arial"/>
            </a:endParaRPr>
          </a:p>
        </p:txBody>
      </p:sp>
      <p:sp>
        <p:nvSpPr>
          <p:cNvPr id="48" name="Google Shape;48;p1"/>
          <p:cNvSpPr txBox="1"/>
          <p:nvPr/>
        </p:nvSpPr>
        <p:spPr>
          <a:xfrm>
            <a:off x="33453325" y="28184103"/>
            <a:ext cx="9144000" cy="600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3F3F3F"/>
                </a:solidFill>
                <a:latin typeface="Montserrat ExtraBold"/>
                <a:ea typeface="Montserrat ExtraBold"/>
                <a:cs typeface="Montserrat ExtraBold"/>
                <a:sym typeface="Montserrat ExtraBold"/>
              </a:rPr>
              <a:t>Reference</a:t>
            </a:r>
            <a:endParaRPr sz="1100" b="0" i="0" u="none" strike="noStrike" cap="none" dirty="0">
              <a:solidFill>
                <a:srgbClr val="000000"/>
              </a:solidFill>
              <a:latin typeface="Arial"/>
              <a:ea typeface="Arial"/>
              <a:cs typeface="Arial"/>
              <a:sym typeface="Arial"/>
            </a:endParaRPr>
          </a:p>
        </p:txBody>
      </p:sp>
      <p:sp>
        <p:nvSpPr>
          <p:cNvPr id="49" name="Google Shape;49;p1"/>
          <p:cNvSpPr txBox="1"/>
          <p:nvPr/>
        </p:nvSpPr>
        <p:spPr>
          <a:xfrm>
            <a:off x="33453325" y="28873938"/>
            <a:ext cx="9699900" cy="3815312"/>
          </a:xfrm>
          <a:prstGeom prst="rect">
            <a:avLst/>
          </a:prstGeom>
          <a:noFill/>
          <a:ln>
            <a:noFill/>
          </a:ln>
        </p:spPr>
        <p:txBody>
          <a:bodyPr spcFirstLastPara="1" wrap="square" lIns="91425" tIns="45700" rIns="91425" bIns="45700" anchor="t" anchorCtr="0">
            <a:normAutofit/>
          </a:bodyPr>
          <a:lstStyle/>
          <a:p>
            <a:r>
              <a:rPr lang="en-US" sz="1000" dirty="0"/>
              <a:t>Bird, S., </a:t>
            </a:r>
            <a:r>
              <a:rPr lang="en-US" sz="1000" dirty="0" err="1"/>
              <a:t>Dudík</a:t>
            </a:r>
            <a:r>
              <a:rPr lang="en-US" sz="1000" dirty="0"/>
              <a:t>, M., Edgar, R., Horn, B., Lutz, R., Milan, V., </a:t>
            </a:r>
            <a:r>
              <a:rPr lang="en-US" sz="1000" dirty="0" err="1"/>
              <a:t>Sameki</a:t>
            </a:r>
            <a:r>
              <a:rPr lang="en-US" sz="1000" dirty="0"/>
              <a:t>, M., Wallach, H., Walker, K., &amp; Design, A. (n.d.). </a:t>
            </a:r>
            <a:r>
              <a:rPr lang="en-US" sz="1000" i="1" dirty="0" err="1"/>
              <a:t>Fairlearn</a:t>
            </a:r>
            <a:r>
              <a:rPr lang="en-US" sz="1000" i="1" dirty="0"/>
              <a:t>: A toolkit for assessing and improving fairness in AI</a:t>
            </a:r>
            <a:r>
              <a:rPr lang="en-US" sz="1000" dirty="0"/>
              <a:t>.</a:t>
            </a:r>
          </a:p>
          <a:p>
            <a:r>
              <a:rPr lang="en-US" sz="1000" dirty="0"/>
              <a:t>De Visser, C., Johansson, L. F., Kulkarni, P., Mei, H., </a:t>
            </a:r>
            <a:r>
              <a:rPr lang="en-US" sz="1000" dirty="0" err="1"/>
              <a:t>Neerincx</a:t>
            </a:r>
            <a:r>
              <a:rPr lang="en-US" sz="1000" dirty="0"/>
              <a:t>, P., Joeri Van Der Velde, K., </a:t>
            </a:r>
            <a:r>
              <a:rPr lang="en-US" sz="1000" dirty="0" err="1"/>
              <a:t>Horvatovich</a:t>
            </a:r>
            <a:r>
              <a:rPr lang="en-US" sz="1000" dirty="0"/>
              <a:t>, P., Van Gool, A. J., </a:t>
            </a:r>
            <a:r>
              <a:rPr lang="en-US" sz="1000" dirty="0" err="1"/>
              <a:t>Swertz</a:t>
            </a:r>
            <a:r>
              <a:rPr lang="en-US" sz="1000" dirty="0"/>
              <a:t>, M. A., Hoen, P. A. C. ‘T, &amp; Niehues, A. (2023). Ten quick tips for building FAIR workflows. </a:t>
            </a:r>
            <a:r>
              <a:rPr lang="en-US" sz="1000" i="1" dirty="0"/>
              <a:t>PLOS Computational Biology</a:t>
            </a:r>
            <a:r>
              <a:rPr lang="en-US" sz="1000" dirty="0"/>
              <a:t>, </a:t>
            </a:r>
            <a:r>
              <a:rPr lang="en-US" sz="1000" i="1" dirty="0"/>
              <a:t>19</a:t>
            </a:r>
            <a:r>
              <a:rPr lang="en-US" sz="1000" dirty="0"/>
              <a:t>(9), e1011369. </a:t>
            </a:r>
            <a:r>
              <a:rPr lang="en-US" sz="1000" dirty="0">
                <a:hlinkClick r:id="rId4"/>
              </a:rPr>
              <a:t>https://doi.org/10.1371/journal.pcbi.1011369</a:t>
            </a:r>
            <a:endParaRPr lang="en-US" sz="1000" dirty="0"/>
          </a:p>
          <a:p>
            <a:r>
              <a:rPr lang="en-US" sz="1000" dirty="0"/>
              <a:t>Garcia, L., </a:t>
            </a:r>
            <a:r>
              <a:rPr lang="en-US" sz="1000" dirty="0" err="1"/>
              <a:t>Batut</a:t>
            </a:r>
            <a:r>
              <a:rPr lang="en-US" sz="1000" dirty="0"/>
              <a:t>, B., Burke, M. L., Kuzak, M., </a:t>
            </a:r>
            <a:r>
              <a:rPr lang="en-US" sz="1000" dirty="0" err="1"/>
              <a:t>Psomopoulos</a:t>
            </a:r>
            <a:r>
              <a:rPr lang="en-US" sz="1000" dirty="0"/>
              <a:t>, F., Arcila, R., Attwood, T. K., Beard, N., Carvalho-Silva, D., Dimopoulos, A. C., Del Angel, V. D., Dumontier, M., Gurwitz, K. T., Krause, R., </a:t>
            </a:r>
            <a:r>
              <a:rPr lang="en-US" sz="1000" dirty="0" err="1"/>
              <a:t>McQuilton</a:t>
            </a:r>
            <a:r>
              <a:rPr lang="en-US" sz="1000" dirty="0"/>
              <a:t>, P., Le Pera, L., Morgan, S. L., </a:t>
            </a:r>
            <a:r>
              <a:rPr lang="en-US" sz="1000" dirty="0" err="1"/>
              <a:t>Rauste</a:t>
            </a:r>
            <a:r>
              <a:rPr lang="en-US" sz="1000" dirty="0"/>
              <a:t>, P., Via, A., … Palagi, P. M. (2020). Ten simple rules for making training materials FAIR. </a:t>
            </a:r>
            <a:r>
              <a:rPr lang="en-US" sz="1000" i="1" dirty="0"/>
              <a:t>PLOS Computational Biology</a:t>
            </a:r>
            <a:r>
              <a:rPr lang="en-US" sz="1000" dirty="0"/>
              <a:t>, </a:t>
            </a:r>
            <a:r>
              <a:rPr lang="en-US" sz="1000" i="1" dirty="0"/>
              <a:t>16</a:t>
            </a:r>
            <a:r>
              <a:rPr lang="en-US" sz="1000" dirty="0"/>
              <a:t>(5), e1007854. </a:t>
            </a:r>
            <a:r>
              <a:rPr lang="en-US" sz="1000" dirty="0">
                <a:hlinkClick r:id="rId5"/>
              </a:rPr>
              <a:t>https://doi.org/10.1371/journal.pcbi.1007854</a:t>
            </a:r>
            <a:endParaRPr lang="en-US" sz="1000" dirty="0"/>
          </a:p>
          <a:p>
            <a:r>
              <a:rPr lang="en-US" sz="1000" dirty="0"/>
              <a:t>Garg, P., Villasenor, J., &amp; Foggo, V. (2020). Fairness Metrics: A Comparative Analysis. </a:t>
            </a:r>
            <a:r>
              <a:rPr lang="en-US" sz="1000" i="1" dirty="0"/>
              <a:t>2020 IEEE International Conference on Big Data (Big Data)</a:t>
            </a:r>
            <a:r>
              <a:rPr lang="en-US" sz="1000" dirty="0"/>
              <a:t>, 3662–3666. </a:t>
            </a:r>
            <a:r>
              <a:rPr lang="en-US" sz="1000" dirty="0">
                <a:hlinkClick r:id="rId6"/>
              </a:rPr>
              <a:t>https://doi.org/10.1109/BigData50022.2020.9378025</a:t>
            </a:r>
            <a:endParaRPr lang="en-US" sz="1000" dirty="0"/>
          </a:p>
          <a:p>
            <a:r>
              <a:rPr lang="en-US" sz="1000" dirty="0" err="1"/>
              <a:t>HuBMAP</a:t>
            </a:r>
            <a:r>
              <a:rPr lang="en-US" sz="1000" dirty="0"/>
              <a:t> Consortium, Writing Group, Snyder, M. P., Lin, S., </a:t>
            </a:r>
            <a:r>
              <a:rPr lang="en-US" sz="1000" dirty="0" err="1"/>
              <a:t>Posgai</a:t>
            </a:r>
            <a:r>
              <a:rPr lang="en-US" sz="1000" dirty="0"/>
              <a:t>, A., Atkinson, M., Regev, A., Rood, J., Rozenblatt-Rosen, O., Gaffney, L., </a:t>
            </a:r>
            <a:r>
              <a:rPr lang="en-US" sz="1000" dirty="0" err="1"/>
              <a:t>Hupalowska</a:t>
            </a:r>
            <a:r>
              <a:rPr lang="en-US" sz="1000" dirty="0"/>
              <a:t>, A., Satija, R., </a:t>
            </a:r>
            <a:r>
              <a:rPr lang="en-US" sz="1000" dirty="0" err="1"/>
              <a:t>Gehlenborg</a:t>
            </a:r>
            <a:r>
              <a:rPr lang="en-US" sz="1000" dirty="0"/>
              <a:t>, N., </a:t>
            </a:r>
            <a:r>
              <a:rPr lang="en-US" sz="1000" dirty="0" err="1"/>
              <a:t>Shendure</a:t>
            </a:r>
            <a:r>
              <a:rPr lang="en-US" sz="1000" dirty="0"/>
              <a:t>, J., Laskin, J., Harbury, P., Nystrom, N. A., Silverstein, J. C., Bar-Joseph, Z., … Anderson, J. (2019). The human body at cellular resolution: The NIH Human Biomolecular Atlas Program. </a:t>
            </a:r>
            <a:r>
              <a:rPr lang="en-US" sz="1000" i="1" dirty="0"/>
              <a:t>Nature</a:t>
            </a:r>
            <a:r>
              <a:rPr lang="en-US" sz="1000" dirty="0"/>
              <a:t>, </a:t>
            </a:r>
            <a:r>
              <a:rPr lang="en-US" sz="1000" i="1" dirty="0"/>
              <a:t>574</a:t>
            </a:r>
            <a:r>
              <a:rPr lang="en-US" sz="1000" dirty="0"/>
              <a:t>(7777), 187–192. </a:t>
            </a:r>
            <a:r>
              <a:rPr lang="en-US" sz="1000" dirty="0">
                <a:hlinkClick r:id="rId7"/>
              </a:rPr>
              <a:t>https://doi.org/10.1038/s41586-019-1629-x</a:t>
            </a:r>
            <a:endParaRPr lang="en-US" sz="1000" dirty="0"/>
          </a:p>
          <a:p>
            <a:r>
              <a:rPr lang="en-US" sz="1000" dirty="0"/>
              <a:t>Johnson, B., &amp; Brun, Y. (2022). </a:t>
            </a:r>
            <a:r>
              <a:rPr lang="en-US" sz="1000" dirty="0" err="1"/>
              <a:t>Fairkit</a:t>
            </a:r>
            <a:r>
              <a:rPr lang="en-US" sz="1000" dirty="0"/>
              <a:t>-learn: A fairness evaluation and comparison toolkit. </a:t>
            </a:r>
            <a:r>
              <a:rPr lang="en-US" sz="1000" i="1" dirty="0"/>
              <a:t>Proceedings of the ACM/IEEE 44th International Conference on Software Engineering: Companion Proceedings</a:t>
            </a:r>
            <a:r>
              <a:rPr lang="en-US" sz="1000" dirty="0"/>
              <a:t>, 70–74. </a:t>
            </a:r>
            <a:r>
              <a:rPr lang="en-US" sz="1000" dirty="0">
                <a:hlinkClick r:id="rId8"/>
              </a:rPr>
              <a:t>https://doi.org/10.1145/3510454.3516830</a:t>
            </a:r>
            <a:endParaRPr lang="en-US" sz="1000" dirty="0"/>
          </a:p>
          <a:p>
            <a:r>
              <a:rPr lang="en-US" sz="1000" dirty="0"/>
              <a:t>Krans, N. A., Ammar, A., Nymark, P., </a:t>
            </a:r>
            <a:r>
              <a:rPr lang="en-US" sz="1000" dirty="0" err="1"/>
              <a:t>Willighagen</a:t>
            </a:r>
            <a:r>
              <a:rPr lang="en-US" sz="1000" dirty="0"/>
              <a:t>, E. L., Bakker, M. I., &amp; Quik, J. T. K. (2022). FAIR assessment tools: Evaluating use and performance. </a:t>
            </a:r>
            <a:r>
              <a:rPr lang="en-US" sz="1000" i="1" dirty="0" err="1"/>
              <a:t>NanoImpact</a:t>
            </a:r>
            <a:r>
              <a:rPr lang="en-US" sz="1000" dirty="0"/>
              <a:t>, </a:t>
            </a:r>
            <a:r>
              <a:rPr lang="en-US" sz="1000" i="1" dirty="0"/>
              <a:t>27</a:t>
            </a:r>
            <a:r>
              <a:rPr lang="en-US" sz="1000" dirty="0"/>
              <a:t>, 100402. </a:t>
            </a:r>
            <a:r>
              <a:rPr lang="en-US" sz="1000" dirty="0">
                <a:hlinkClick r:id="rId9"/>
              </a:rPr>
              <a:t>https://doi.org/10.1016/j.impact.2022.100402</a:t>
            </a:r>
            <a:endParaRPr lang="en-US" sz="1000" dirty="0"/>
          </a:p>
          <a:p>
            <a:r>
              <a:rPr lang="en-US" sz="1000" dirty="0"/>
              <a:t>Vogt, L., Kuhn, T., &amp; </a:t>
            </a:r>
            <a:r>
              <a:rPr lang="en-US" sz="1000" dirty="0" err="1"/>
              <a:t>Hoehndorf</a:t>
            </a:r>
            <a:r>
              <a:rPr lang="en-US" sz="1000" dirty="0"/>
              <a:t>, R. (2024). Semantic units: Organizing knowledge graphs into semantically meaningful units of representation. </a:t>
            </a:r>
            <a:r>
              <a:rPr lang="en-US" sz="1000" i="1" dirty="0"/>
              <a:t>Journal of Biomedical Semantics</a:t>
            </a:r>
            <a:r>
              <a:rPr lang="en-US" sz="1000" dirty="0"/>
              <a:t>, </a:t>
            </a:r>
            <a:r>
              <a:rPr lang="en-US" sz="1000" i="1" dirty="0"/>
              <a:t>15</a:t>
            </a:r>
            <a:r>
              <a:rPr lang="en-US" sz="1000" dirty="0"/>
              <a:t>(1), 7. </a:t>
            </a:r>
            <a:r>
              <a:rPr lang="en-US" sz="1000" dirty="0">
                <a:hlinkClick r:id="rId10"/>
              </a:rPr>
              <a:t>https://doi.org/10.1186/s13326-024-00310-5</a:t>
            </a:r>
            <a:endParaRPr lang="en-US" sz="1000" dirty="0"/>
          </a:p>
          <a:p>
            <a:r>
              <a:rPr lang="en-US" sz="1000" dirty="0"/>
              <a:t>Wilkinson, M. D., Dumontier, M., </a:t>
            </a:r>
            <a:r>
              <a:rPr lang="en-US" sz="1000" dirty="0" err="1"/>
              <a:t>Aalbersberg</a:t>
            </a:r>
            <a:r>
              <a:rPr lang="en-US" sz="1000" dirty="0"/>
              <a:t>, </a:t>
            </a:r>
            <a:r>
              <a:rPr lang="en-US" sz="1000" dirty="0" err="1"/>
              <a:t>Ij</a:t>
            </a:r>
            <a:r>
              <a:rPr lang="en-US" sz="1000" dirty="0"/>
              <a:t>. J., Appleton, G., Axton, M., Baak, A., Blomberg, N., </a:t>
            </a:r>
            <a:r>
              <a:rPr lang="en-US" sz="1000" dirty="0" err="1"/>
              <a:t>Boiten</a:t>
            </a:r>
            <a:r>
              <a:rPr lang="en-US" sz="1000" dirty="0"/>
              <a:t>, J.-W., Da Silva Santos, L. B., Bourne, P. E., Bouwman, J., Brookes, A. J., Clark, T., </a:t>
            </a:r>
            <a:r>
              <a:rPr lang="en-US" sz="1000" dirty="0" err="1"/>
              <a:t>Crosas</a:t>
            </a:r>
            <a:r>
              <a:rPr lang="en-US" sz="1000" dirty="0"/>
              <a:t>, M., Dillo, I., Dumon, O., Edmunds, S., Evelo, C. T., </a:t>
            </a:r>
            <a:r>
              <a:rPr lang="en-US" sz="1000" dirty="0" err="1"/>
              <a:t>Finkers</a:t>
            </a:r>
            <a:r>
              <a:rPr lang="en-US" sz="1000" dirty="0"/>
              <a:t>, R., … Mons, B. (2016). The FAIR Guiding Principles for scientific data management and stewardship. </a:t>
            </a:r>
            <a:r>
              <a:rPr lang="en-US" sz="1000" i="1" dirty="0"/>
              <a:t>Scientific Data</a:t>
            </a:r>
            <a:r>
              <a:rPr lang="en-US" sz="1000" dirty="0"/>
              <a:t>, </a:t>
            </a:r>
            <a:r>
              <a:rPr lang="en-US" sz="1000" i="1" dirty="0"/>
              <a:t>3</a:t>
            </a:r>
            <a:r>
              <a:rPr lang="en-US" sz="1000" dirty="0"/>
              <a:t>(1), 160018. </a:t>
            </a:r>
            <a:r>
              <a:rPr lang="en-US" sz="1000" dirty="0">
                <a:hlinkClick r:id="rId11"/>
              </a:rPr>
              <a:t>https://doi.org/10.1038/sdata.2016.18</a:t>
            </a:r>
            <a:endParaRPr lang="en-US" sz="1000" dirty="0"/>
          </a:p>
          <a:p>
            <a:r>
              <a:rPr lang="en-US" sz="1000" dirty="0"/>
              <a:t>Wilkinson, M. D., Sansone, S.-A., Schultes, E., Doorn, P., Bonino Da Silva Santos, L. O., &amp; Dumontier, M. (2018). A design framework and exemplar metrics for </a:t>
            </a:r>
            <a:r>
              <a:rPr lang="en-US" sz="1000" dirty="0" err="1"/>
              <a:t>FAIRness</a:t>
            </a:r>
            <a:r>
              <a:rPr lang="en-US" sz="1000" dirty="0"/>
              <a:t>. </a:t>
            </a:r>
            <a:r>
              <a:rPr lang="en-US" sz="1000" i="1" dirty="0"/>
              <a:t>Scientific Data</a:t>
            </a:r>
            <a:r>
              <a:rPr lang="en-US" sz="1000" dirty="0"/>
              <a:t>, </a:t>
            </a:r>
            <a:r>
              <a:rPr lang="en-US" sz="1000" i="1" dirty="0"/>
              <a:t>5</a:t>
            </a:r>
            <a:r>
              <a:rPr lang="en-US" sz="1000" dirty="0"/>
              <a:t>(1), 180118. </a:t>
            </a:r>
            <a:r>
              <a:rPr lang="en-US" sz="1000" dirty="0">
                <a:hlinkClick r:id="rId12"/>
              </a:rPr>
              <a:t>https://doi.org/10.1038/sdata.2018.118</a:t>
            </a:r>
            <a:endParaRPr lang="en-US" sz="1000" dirty="0"/>
          </a:p>
          <a:p>
            <a:pPr marL="0" marR="0" lvl="0" indent="0" algn="l" rtl="0">
              <a:lnSpc>
                <a:spcPct val="100000"/>
              </a:lnSpc>
              <a:spcBef>
                <a:spcPts val="1200"/>
              </a:spcBef>
              <a:spcAft>
                <a:spcPts val="0"/>
              </a:spcAft>
              <a:buClr>
                <a:srgbClr val="000000"/>
              </a:buClr>
              <a:buSzPts val="800"/>
              <a:buFont typeface="Arial"/>
              <a:buNone/>
            </a:pPr>
            <a:endParaRPr sz="1000" b="0" i="0" u="none" strike="noStrike" cap="none" dirty="0">
              <a:solidFill>
                <a:srgbClr val="595959"/>
              </a:solidFill>
              <a:latin typeface="Arial"/>
              <a:ea typeface="Arial"/>
              <a:cs typeface="Arial"/>
              <a:sym typeface="Arial"/>
            </a:endParaRPr>
          </a:p>
        </p:txBody>
      </p:sp>
      <p:pic>
        <p:nvPicPr>
          <p:cNvPr id="60" name="Google Shape;60;p1"/>
          <p:cNvPicPr preferRelativeResize="0"/>
          <p:nvPr/>
        </p:nvPicPr>
        <p:blipFill rotWithShape="1">
          <a:blip r:embed="rId13">
            <a:alphaModFix/>
          </a:blip>
          <a:srcRect/>
          <a:stretch/>
        </p:blipFill>
        <p:spPr>
          <a:xfrm>
            <a:off x="35365502" y="1349612"/>
            <a:ext cx="7768796" cy="3201600"/>
          </a:xfrm>
          <a:prstGeom prst="rect">
            <a:avLst/>
          </a:prstGeom>
          <a:noFill/>
          <a:ln>
            <a:noFill/>
          </a:ln>
        </p:spPr>
      </p:pic>
      <p:sp>
        <p:nvSpPr>
          <p:cNvPr id="2" name="Rectangle 1">
            <a:extLst>
              <a:ext uri="{FF2B5EF4-FFF2-40B4-BE49-F238E27FC236}">
                <a16:creationId xmlns:a16="http://schemas.microsoft.com/office/drawing/2014/main" id="{237F5BDA-1867-385E-AEE8-4D86F152C760}"/>
              </a:ext>
            </a:extLst>
          </p:cNvPr>
          <p:cNvSpPr>
            <a:spLocks noChangeArrowheads="1"/>
          </p:cNvSpPr>
          <p:nvPr/>
        </p:nvSpPr>
        <p:spPr bwMode="auto">
          <a:xfrm>
            <a:off x="0" y="0"/>
            <a:ext cx="438912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38031" rIns="0" bIns="22535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R" altLang="en-PR" sz="1800" b="0" i="0" u="none" strike="noStrike" cap="none" normalizeH="0" baseline="0">
                <a:ln>
                  <a:noFill/>
                </a:ln>
                <a:solidFill>
                  <a:schemeClr val="tx1"/>
                </a:solidFill>
                <a:effectLst/>
                <a:latin typeface="Arial" panose="020B0604020202020204" pitchFamily="34" charset="0"/>
              </a:rPr>
              <a:t>Developing, assessing and visualizing FAIR metrics for biomedical datasets in HuBMAP</a:t>
            </a:r>
          </a:p>
          <a:p>
            <a:pPr marL="0" marR="0" lvl="0" indent="0" algn="l" defTabSz="914400" rtl="0" eaLnBrk="0" fontAlgn="base" latinLnBrk="0" hangingPunct="0">
              <a:lnSpc>
                <a:spcPct val="100000"/>
              </a:lnSpc>
              <a:spcBef>
                <a:spcPct val="0"/>
              </a:spcBef>
              <a:spcAft>
                <a:spcPct val="0"/>
              </a:spcAft>
              <a:buClrTx/>
              <a:buSzTx/>
              <a:buFontTx/>
              <a:buNone/>
              <a:tabLst/>
            </a:pPr>
            <a:br>
              <a:rPr kumimoji="0" lang="en-PR" altLang="en-PR" sz="1800" b="0" i="0" u="none" strike="noStrike" cap="none" normalizeH="0" baseline="0">
                <a:ln>
                  <a:noFill/>
                </a:ln>
                <a:solidFill>
                  <a:schemeClr val="tx1"/>
                </a:solidFill>
                <a:effectLst/>
                <a:latin typeface="Arial" panose="020B0604020202020204" pitchFamily="34" charset="0"/>
              </a:rPr>
            </a:br>
            <a:endParaRPr kumimoji="0" lang="en-PR" altLang="en-PR" sz="1800" b="0" i="0" u="none" strike="noStrike" cap="none" normalizeH="0" baseline="0">
              <a:ln>
                <a:noFill/>
              </a:ln>
              <a:solidFill>
                <a:schemeClr val="tx1"/>
              </a:solidFill>
              <a:effectLst/>
              <a:latin typeface="Arial" panose="020B0604020202020204" pitchFamily="34" charset="0"/>
            </a:endParaRPr>
          </a:p>
        </p:txBody>
      </p:sp>
      <p:sp>
        <p:nvSpPr>
          <p:cNvPr id="38" name="Google Shape;26;p1">
            <a:extLst>
              <a:ext uri="{FF2B5EF4-FFF2-40B4-BE49-F238E27FC236}">
                <a16:creationId xmlns:a16="http://schemas.microsoft.com/office/drawing/2014/main" id="{C3A2700A-E1C7-1686-8FD1-5F9E94C8F6EC}"/>
              </a:ext>
            </a:extLst>
          </p:cNvPr>
          <p:cNvSpPr txBox="1"/>
          <p:nvPr/>
        </p:nvSpPr>
        <p:spPr>
          <a:xfrm>
            <a:off x="33676339" y="23410056"/>
            <a:ext cx="9749486" cy="17542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3600"/>
              <a:buFontTx/>
              <a:buChar char="-"/>
            </a:pP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Addaping</a:t>
            </a:r>
            <a:r>
              <a:rPr lang="en-US" sz="1800" u="none" strike="noStrike" cap="none" dirty="0">
                <a:solidFill>
                  <a:srgbClr val="000000"/>
                </a:solidFill>
                <a:latin typeface="Devanagari MT" panose="02000500020000000000" pitchFamily="2" charset="0"/>
                <a:cs typeface="Devanagari MT" panose="02000500020000000000" pitchFamily="2" charset="0"/>
                <a:sym typeface="Arial"/>
              </a:rPr>
              <a:t> code to run </a:t>
            </a: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automaticlly</a:t>
            </a:r>
            <a:r>
              <a:rPr lang="en-US" sz="1800" u="none" strike="noStrike" cap="none" dirty="0">
                <a:solidFill>
                  <a:srgbClr val="000000"/>
                </a:solidFill>
                <a:latin typeface="Devanagari MT" panose="02000500020000000000" pitchFamily="2" charset="0"/>
                <a:cs typeface="Devanagari MT" panose="02000500020000000000" pitchFamily="2" charset="0"/>
                <a:sym typeface="Arial"/>
              </a:rPr>
              <a:t> </a:t>
            </a: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fo</a:t>
            </a:r>
            <a:r>
              <a:rPr lang="en-US" sz="1800" u="none" strike="noStrike" cap="none" dirty="0">
                <a:solidFill>
                  <a:srgbClr val="000000"/>
                </a:solidFill>
                <a:latin typeface="Devanagari MT" panose="02000500020000000000" pitchFamily="2" charset="0"/>
                <a:cs typeface="Devanagari MT" panose="02000500020000000000" pitchFamily="2" charset="0"/>
                <a:sym typeface="Arial"/>
              </a:rPr>
              <a:t> </a:t>
            </a: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rhe</a:t>
            </a:r>
            <a:r>
              <a:rPr lang="en-US" sz="1800" u="none" strike="noStrike" cap="none" dirty="0">
                <a:solidFill>
                  <a:srgbClr val="000000"/>
                </a:solidFill>
                <a:latin typeface="Devanagari MT" panose="02000500020000000000" pitchFamily="2" charset="0"/>
                <a:cs typeface="Devanagari MT" panose="02000500020000000000" pitchFamily="2" charset="0"/>
                <a:sym typeface="Arial"/>
              </a:rPr>
              <a:t> calculations </a:t>
            </a:r>
          </a:p>
          <a:p>
            <a:pPr marL="285750" marR="0" lvl="0" indent="-285750" algn="l" rtl="0">
              <a:lnSpc>
                <a:spcPct val="100000"/>
              </a:lnSpc>
              <a:spcBef>
                <a:spcPts val="0"/>
              </a:spcBef>
              <a:spcAft>
                <a:spcPts val="0"/>
              </a:spcAft>
              <a:buClr>
                <a:srgbClr val="000000"/>
              </a:buClr>
              <a:buSzPts val="3600"/>
              <a:buFontTx/>
              <a:buChar char="-"/>
            </a:pP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Public</a:t>
            </a:r>
            <a:r>
              <a:rPr lang="en-US" sz="1800" dirty="0" err="1">
                <a:latin typeface="Devanagari MT" panose="02000500020000000000" pitchFamily="2" charset="0"/>
                <a:cs typeface="Devanagari MT" panose="02000500020000000000" pitchFamily="2" charset="0"/>
              </a:rPr>
              <a:t>ally</a:t>
            </a:r>
            <a:r>
              <a:rPr lang="en-US" sz="1800" dirty="0">
                <a:latin typeface="Devanagari MT" panose="02000500020000000000" pitchFamily="2" charset="0"/>
                <a:cs typeface="Devanagari MT" panose="02000500020000000000" pitchFamily="2" charset="0"/>
              </a:rPr>
              <a:t> accessible in git repo</a:t>
            </a:r>
          </a:p>
          <a:p>
            <a:pPr marL="285750" marR="0" lvl="0" indent="-285750" algn="l" rtl="0">
              <a:lnSpc>
                <a:spcPct val="100000"/>
              </a:lnSpc>
              <a:spcBef>
                <a:spcPts val="0"/>
              </a:spcBef>
              <a:spcAft>
                <a:spcPts val="0"/>
              </a:spcAft>
              <a:buClr>
                <a:srgbClr val="000000"/>
              </a:buClr>
              <a:buSzPts val="3600"/>
              <a:buFontTx/>
              <a:buChar char="-"/>
            </a:pPr>
            <a:r>
              <a:rPr lang="en-US" sz="1800" u="none" strike="noStrike" cap="none" dirty="0" err="1">
                <a:solidFill>
                  <a:srgbClr val="000000"/>
                </a:solidFill>
                <a:latin typeface="Devanagari MT" panose="02000500020000000000" pitchFamily="2" charset="0"/>
                <a:cs typeface="Devanagari MT" panose="02000500020000000000" pitchFamily="2" charset="0"/>
                <a:sym typeface="Arial"/>
              </a:rPr>
              <a:t>Imlementig</a:t>
            </a:r>
            <a:r>
              <a:rPr lang="en-US" sz="1800" u="none" strike="noStrike" cap="none" dirty="0">
                <a:solidFill>
                  <a:srgbClr val="000000"/>
                </a:solidFill>
                <a:latin typeface="Devanagari MT" panose="02000500020000000000" pitchFamily="2" charset="0"/>
                <a:cs typeface="Devanagari MT" panose="02000500020000000000" pitchFamily="2" charset="0"/>
                <a:sym typeface="Arial"/>
              </a:rPr>
              <a:t> AI  for a deep dive on the understanding and a more reasonable weight distribution based </a:t>
            </a:r>
            <a:r>
              <a:rPr lang="en-US" sz="1800" dirty="0">
                <a:latin typeface="Devanagari MT" panose="02000500020000000000" pitchFamily="2" charset="0"/>
                <a:cs typeface="Devanagari MT" panose="02000500020000000000" pitchFamily="2" charset="0"/>
              </a:rPr>
              <a:t>on the  importance of the features </a:t>
            </a:r>
          </a:p>
          <a:p>
            <a:pPr marL="285750" marR="0" lvl="0" indent="-285750" algn="l" rtl="0">
              <a:lnSpc>
                <a:spcPct val="100000"/>
              </a:lnSpc>
              <a:spcBef>
                <a:spcPts val="0"/>
              </a:spcBef>
              <a:spcAft>
                <a:spcPts val="0"/>
              </a:spcAft>
              <a:buClr>
                <a:srgbClr val="000000"/>
              </a:buClr>
              <a:buSzPts val="3600"/>
              <a:buFontTx/>
              <a:buChar char="-"/>
            </a:pPr>
            <a:r>
              <a:rPr lang="en-US" sz="1800" dirty="0" err="1">
                <a:latin typeface="Devanagari MT" panose="02000500020000000000" pitchFamily="2" charset="0"/>
                <a:cs typeface="Devanagari MT" panose="02000500020000000000" pitchFamily="2" charset="0"/>
              </a:rPr>
              <a:t>Traing</a:t>
            </a:r>
            <a:r>
              <a:rPr lang="en-US" sz="1800" dirty="0">
                <a:latin typeface="Devanagari MT" panose="02000500020000000000" pitchFamily="2" charset="0"/>
                <a:cs typeface="Devanagari MT" panose="02000500020000000000" pitchFamily="2" charset="0"/>
              </a:rPr>
              <a:t>/Implement Ai in a generic solution of </a:t>
            </a:r>
            <a:r>
              <a:rPr lang="en-US" sz="1800" dirty="0" err="1">
                <a:latin typeface="Devanagari MT" panose="02000500020000000000" pitchFamily="2" charset="0"/>
                <a:cs typeface="Devanagari MT" panose="02000500020000000000" pitchFamily="2" charset="0"/>
              </a:rPr>
              <a:t>evalution</a:t>
            </a:r>
            <a:r>
              <a:rPr lang="en-US" sz="1800" dirty="0">
                <a:latin typeface="Devanagari MT" panose="02000500020000000000" pitchFamily="2" charset="0"/>
                <a:cs typeface="Devanagari MT" panose="02000500020000000000" pitchFamily="2" charset="0"/>
              </a:rPr>
              <a:t> of </a:t>
            </a:r>
            <a:r>
              <a:rPr lang="en-US" sz="1800" dirty="0" err="1">
                <a:latin typeface="Devanagari MT" panose="02000500020000000000" pitchFamily="2" charset="0"/>
                <a:cs typeface="Devanagari MT" panose="02000500020000000000" pitchFamily="2" charset="0"/>
              </a:rPr>
              <a:t>systerns</a:t>
            </a:r>
            <a:r>
              <a:rPr lang="en-US" sz="1800" dirty="0">
                <a:latin typeface="Devanagari MT" panose="02000500020000000000" pitchFamily="2" charset="0"/>
                <a:cs typeface="Devanagari MT" panose="02000500020000000000" pitchFamily="2" charset="0"/>
              </a:rPr>
              <a:t>, metrics and weights </a:t>
            </a:r>
          </a:p>
          <a:p>
            <a:pPr marL="285750" marR="0" lvl="0" indent="-285750" algn="l" rtl="0">
              <a:lnSpc>
                <a:spcPct val="100000"/>
              </a:lnSpc>
              <a:spcBef>
                <a:spcPts val="0"/>
              </a:spcBef>
              <a:spcAft>
                <a:spcPts val="0"/>
              </a:spcAft>
              <a:buClr>
                <a:srgbClr val="000000"/>
              </a:buClr>
              <a:buSzPts val="3600"/>
              <a:buFontTx/>
              <a:buChar char="-"/>
            </a:pPr>
            <a:endParaRPr sz="1800" u="none" strike="noStrike" cap="none" dirty="0">
              <a:solidFill>
                <a:srgbClr val="000000"/>
              </a:solidFill>
              <a:latin typeface="Devanagari MT" panose="02000500020000000000" pitchFamily="2" charset="0"/>
              <a:cs typeface="Devanagari MT" panose="02000500020000000000" pitchFamily="2" charset="0"/>
              <a:sym typeface="Arial"/>
            </a:endParaRPr>
          </a:p>
        </p:txBody>
      </p:sp>
      <p:sp>
        <p:nvSpPr>
          <p:cNvPr id="33" name="Google Shape;33;p1"/>
          <p:cNvSpPr txBox="1"/>
          <p:nvPr/>
        </p:nvSpPr>
        <p:spPr>
          <a:xfrm>
            <a:off x="125319" y="24296507"/>
            <a:ext cx="9729012"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3F3F3F"/>
                </a:solidFill>
              </a:rPr>
              <a:t>Methodology/</a:t>
            </a:r>
            <a:r>
              <a:rPr lang="en-US" sz="3600" b="1" i="0" u="none" strike="noStrike" cap="none" dirty="0" err="1">
                <a:solidFill>
                  <a:srgbClr val="3F3F3F"/>
                </a:solidFill>
              </a:rPr>
              <a:t>Technolgy</a:t>
            </a:r>
            <a:endParaRPr sz="1400" i="0" u="none" strike="noStrike" cap="none" dirty="0">
              <a:solidFill>
                <a:srgbClr val="000000"/>
              </a:solidFill>
            </a:endParaRPr>
          </a:p>
        </p:txBody>
      </p:sp>
      <p:sp>
        <p:nvSpPr>
          <p:cNvPr id="44" name="Google Shape;44;p1"/>
          <p:cNvSpPr txBox="1"/>
          <p:nvPr/>
        </p:nvSpPr>
        <p:spPr>
          <a:xfrm>
            <a:off x="5729291" y="28136241"/>
            <a:ext cx="3314159" cy="477023"/>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rPr>
              <a:t>Preparing Metrics</a:t>
            </a:r>
            <a:endParaRPr sz="1900" b="1" i="0" u="none" strike="noStrike" cap="none" dirty="0">
              <a:solidFill>
                <a:schemeClr val="dk1"/>
              </a:solidFill>
            </a:endParaRPr>
          </a:p>
        </p:txBody>
      </p:sp>
      <p:sp>
        <p:nvSpPr>
          <p:cNvPr id="57" name="Google Shape;57;p1"/>
          <p:cNvSpPr txBox="1"/>
          <p:nvPr/>
        </p:nvSpPr>
        <p:spPr>
          <a:xfrm>
            <a:off x="849450" y="28136241"/>
            <a:ext cx="3924420" cy="76941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n-US" sz="1900" b="1" i="0" u="none" strike="noStrike" cap="none" dirty="0">
                <a:solidFill>
                  <a:srgbClr val="000000"/>
                </a:solidFill>
              </a:rPr>
              <a:t>Researching and Data Normalization</a:t>
            </a:r>
            <a:endParaRPr sz="1900" b="1" i="0" u="none" strike="noStrike" cap="none" dirty="0">
              <a:solidFill>
                <a:srgbClr val="000000"/>
              </a:solidFill>
            </a:endParaRPr>
          </a:p>
        </p:txBody>
      </p:sp>
      <p:sp>
        <p:nvSpPr>
          <p:cNvPr id="15" name="TextBox 14">
            <a:extLst>
              <a:ext uri="{FF2B5EF4-FFF2-40B4-BE49-F238E27FC236}">
                <a16:creationId xmlns:a16="http://schemas.microsoft.com/office/drawing/2014/main" id="{FB940F58-DE8C-DCDD-861D-EB23674F54A9}"/>
              </a:ext>
            </a:extLst>
          </p:cNvPr>
          <p:cNvSpPr txBox="1"/>
          <p:nvPr/>
        </p:nvSpPr>
        <p:spPr>
          <a:xfrm>
            <a:off x="697404" y="25072664"/>
            <a:ext cx="3783950" cy="400110"/>
          </a:xfrm>
          <a:prstGeom prst="rect">
            <a:avLst/>
          </a:prstGeom>
          <a:noFill/>
        </p:spPr>
        <p:txBody>
          <a:bodyPr wrap="square" rtlCol="0">
            <a:spAutoFit/>
          </a:bodyPr>
          <a:lstStyle/>
          <a:p>
            <a:r>
              <a:rPr lang="en-US" sz="2000" dirty="0">
                <a:solidFill>
                  <a:schemeClr val="dk1"/>
                </a:solidFill>
              </a:rPr>
              <a:t>Python Libraries(main libraries):</a:t>
            </a:r>
          </a:p>
        </p:txBody>
      </p:sp>
      <p:sp>
        <p:nvSpPr>
          <p:cNvPr id="53" name="Google Shape;53;p1"/>
          <p:cNvSpPr txBox="1"/>
          <p:nvPr/>
        </p:nvSpPr>
        <p:spPr>
          <a:xfrm>
            <a:off x="6123769" y="25072580"/>
            <a:ext cx="3783950" cy="384680"/>
          </a:xfrm>
          <a:prstGeom prst="rect">
            <a:avLst/>
          </a:prstGeom>
          <a:noFill/>
          <a:ln>
            <a:noFill/>
          </a:ln>
        </p:spPr>
        <p:txBody>
          <a:bodyPr spcFirstLastPara="1" wrap="square" lIns="91425" tIns="45700" rIns="91425" bIns="45700" anchor="t" anchorCtr="0">
            <a:spAutoFit/>
          </a:bodyPr>
          <a:lstStyle/>
          <a:p>
            <a:pPr lvl="0">
              <a:buClr>
                <a:schemeClr val="dk1"/>
              </a:buClr>
              <a:buSzPts val="1100"/>
            </a:pPr>
            <a:r>
              <a:rPr lang="en-US" sz="1900" dirty="0">
                <a:solidFill>
                  <a:schemeClr val="dk1"/>
                </a:solidFill>
              </a:rPr>
              <a:t>Python Libraries(main libraries):</a:t>
            </a:r>
          </a:p>
        </p:txBody>
      </p:sp>
      <p:sp>
        <p:nvSpPr>
          <p:cNvPr id="25" name="Google Shape;52;p1">
            <a:extLst>
              <a:ext uri="{FF2B5EF4-FFF2-40B4-BE49-F238E27FC236}">
                <a16:creationId xmlns:a16="http://schemas.microsoft.com/office/drawing/2014/main" id="{BA6B6DF8-0344-8636-7C91-18F2E12512B0}"/>
              </a:ext>
            </a:extLst>
          </p:cNvPr>
          <p:cNvSpPr txBox="1"/>
          <p:nvPr/>
        </p:nvSpPr>
        <p:spPr>
          <a:xfrm>
            <a:off x="6123769" y="25548714"/>
            <a:ext cx="3246669" cy="769411"/>
          </a:xfrm>
          <a:prstGeom prst="rect">
            <a:avLst/>
          </a:prstGeom>
          <a:noFill/>
          <a:ln>
            <a:noFill/>
          </a:ln>
        </p:spPr>
        <p:txBody>
          <a:bodyPr spcFirstLastPara="1" wrap="square" lIns="91425" tIns="91425" rIns="91425" bIns="91425" numCol="2" anchor="t" anchorCtr="0">
            <a:spAutoFit/>
          </a:bodyPr>
          <a:lstStyle/>
          <a:p>
            <a:pPr marL="457200" marR="0" lvl="0" indent="-349250" algn="l" rtl="0">
              <a:lnSpc>
                <a:spcPct val="100000"/>
              </a:lnSpc>
              <a:spcBef>
                <a:spcPts val="0"/>
              </a:spcBef>
              <a:spcAft>
                <a:spcPts val="0"/>
              </a:spcAft>
              <a:buClr>
                <a:schemeClr val="dk1"/>
              </a:buClr>
              <a:buSzPts val="1900"/>
              <a:buChar char="●"/>
            </a:pPr>
            <a:r>
              <a:rPr lang="en-US" sz="1900" i="0" u="none" strike="noStrike" cap="none" dirty="0" err="1">
                <a:solidFill>
                  <a:schemeClr val="dk1"/>
                </a:solidFill>
              </a:rPr>
              <a:t>Github</a:t>
            </a:r>
            <a:r>
              <a:rPr lang="en-US" sz="1900" i="0" u="none" strike="noStrike" cap="none" dirty="0">
                <a:solidFill>
                  <a:schemeClr val="dk1"/>
                </a:solidFill>
              </a:rPr>
              <a:t> </a:t>
            </a:r>
          </a:p>
          <a:p>
            <a:pPr marL="457200" marR="0" lvl="0" indent="-349250" algn="l" rtl="0">
              <a:lnSpc>
                <a:spcPct val="100000"/>
              </a:lnSpc>
              <a:spcBef>
                <a:spcPts val="0"/>
              </a:spcBef>
              <a:spcAft>
                <a:spcPts val="0"/>
              </a:spcAft>
              <a:buClr>
                <a:schemeClr val="dk1"/>
              </a:buClr>
              <a:buSzPts val="1900"/>
              <a:buChar char="●"/>
            </a:pPr>
            <a:r>
              <a:rPr lang="en-US" sz="1900" dirty="0">
                <a:solidFill>
                  <a:schemeClr val="dk1"/>
                </a:solidFill>
              </a:rPr>
              <a:t>Python</a:t>
            </a:r>
          </a:p>
          <a:p>
            <a:pPr marL="457200" marR="0" lvl="0" indent="-349250" algn="l" rtl="0">
              <a:lnSpc>
                <a:spcPct val="100000"/>
              </a:lnSpc>
              <a:spcBef>
                <a:spcPts val="0"/>
              </a:spcBef>
              <a:spcAft>
                <a:spcPts val="0"/>
              </a:spcAft>
              <a:buClr>
                <a:schemeClr val="dk1"/>
              </a:buClr>
              <a:buSzPts val="1900"/>
              <a:buChar char="●"/>
            </a:pPr>
            <a:r>
              <a:rPr lang="en-US" sz="1900" i="0" u="none" strike="noStrike" cap="none" dirty="0">
                <a:solidFill>
                  <a:schemeClr val="dk1"/>
                </a:solidFill>
              </a:rPr>
              <a:t>Bridges-2</a:t>
            </a:r>
            <a:endParaRPr sz="1900" i="0" u="none" strike="noStrike" cap="none" dirty="0">
              <a:solidFill>
                <a:schemeClr val="dk1"/>
              </a:solidFill>
            </a:endParaRPr>
          </a:p>
        </p:txBody>
      </p:sp>
      <p:sp>
        <p:nvSpPr>
          <p:cNvPr id="55" name="Google Shape;30;p1">
            <a:extLst>
              <a:ext uri="{FF2B5EF4-FFF2-40B4-BE49-F238E27FC236}">
                <a16:creationId xmlns:a16="http://schemas.microsoft.com/office/drawing/2014/main" id="{FEBC458C-A62E-FE60-942D-E41E10688F14}"/>
              </a:ext>
            </a:extLst>
          </p:cNvPr>
          <p:cNvSpPr txBox="1"/>
          <p:nvPr/>
        </p:nvSpPr>
        <p:spPr>
          <a:xfrm>
            <a:off x="697404" y="27334399"/>
            <a:ext cx="9144000" cy="646290"/>
          </a:xfrm>
          <a:prstGeom prst="rect">
            <a:avLst/>
          </a:prstGeom>
          <a:noFill/>
          <a:ln>
            <a:noFill/>
          </a:ln>
        </p:spPr>
        <p:txBody>
          <a:bodyPr spcFirstLastPara="1" wrap="square" lIns="91425" tIns="45700" rIns="91425" bIns="45700" anchor="t" anchorCtr="0">
            <a:spAutoFit/>
          </a:bodyPr>
          <a:lstStyle/>
          <a:p>
            <a:pPr algn="ctr"/>
            <a:r>
              <a:rPr lang="en-US" sz="3600" b="1" dirty="0">
                <a:latin typeface="+mj-lt"/>
              </a:rPr>
              <a:t>Infrastructure analysis </a:t>
            </a:r>
          </a:p>
        </p:txBody>
      </p:sp>
      <p:pic>
        <p:nvPicPr>
          <p:cNvPr id="59" name="Picture 58" descr="A screenshot of a computer&#10;&#10;AI-generated content may be incorrect.">
            <a:extLst>
              <a:ext uri="{FF2B5EF4-FFF2-40B4-BE49-F238E27FC236}">
                <a16:creationId xmlns:a16="http://schemas.microsoft.com/office/drawing/2014/main" id="{C6FCAB76-8CA1-2772-13B7-91A284D12BD7}"/>
              </a:ext>
            </a:extLst>
          </p:cNvPr>
          <p:cNvPicPr>
            <a:picLocks noChangeAspect="1"/>
          </p:cNvPicPr>
          <p:nvPr/>
        </p:nvPicPr>
        <p:blipFill>
          <a:blip r:embed="rId14"/>
          <a:srcRect l="10242" t="10522" r="11527" b="7578"/>
          <a:stretch>
            <a:fillRect/>
          </a:stretch>
        </p:blipFill>
        <p:spPr>
          <a:xfrm>
            <a:off x="23869273" y="25164342"/>
            <a:ext cx="3838471" cy="7143914"/>
          </a:xfrm>
          <a:prstGeom prst="rect">
            <a:avLst/>
          </a:prstGeom>
        </p:spPr>
      </p:pic>
      <p:pic>
        <p:nvPicPr>
          <p:cNvPr id="62" name="Picture 61" descr="A screenshot of a computer&#10;&#10;AI-generated content may be incorrect.">
            <a:extLst>
              <a:ext uri="{FF2B5EF4-FFF2-40B4-BE49-F238E27FC236}">
                <a16:creationId xmlns:a16="http://schemas.microsoft.com/office/drawing/2014/main" id="{277DFA3F-4750-F46C-783E-E645BBA0B5FA}"/>
              </a:ext>
            </a:extLst>
          </p:cNvPr>
          <p:cNvPicPr>
            <a:picLocks noChangeAspect="1"/>
          </p:cNvPicPr>
          <p:nvPr/>
        </p:nvPicPr>
        <p:blipFill>
          <a:blip r:embed="rId15"/>
          <a:srcRect l="11683" t="10407" r="11084" b="6099"/>
          <a:stretch>
            <a:fillRect/>
          </a:stretch>
        </p:blipFill>
        <p:spPr>
          <a:xfrm>
            <a:off x="11422478" y="25164342"/>
            <a:ext cx="3680791" cy="7074130"/>
          </a:xfrm>
          <a:prstGeom prst="rect">
            <a:avLst/>
          </a:prstGeom>
        </p:spPr>
      </p:pic>
      <p:pic>
        <p:nvPicPr>
          <p:cNvPr id="64" name="Picture 63" descr="A screenshot of a computer&#10;&#10;AI-generated content may be incorrect.">
            <a:extLst>
              <a:ext uri="{FF2B5EF4-FFF2-40B4-BE49-F238E27FC236}">
                <a16:creationId xmlns:a16="http://schemas.microsoft.com/office/drawing/2014/main" id="{AFF9C2A2-BA34-36FA-E05E-866619743E22}"/>
              </a:ext>
            </a:extLst>
          </p:cNvPr>
          <p:cNvPicPr>
            <a:picLocks noChangeAspect="1"/>
          </p:cNvPicPr>
          <p:nvPr/>
        </p:nvPicPr>
        <p:blipFill>
          <a:blip r:embed="rId16"/>
          <a:srcRect l="10098" t="10881" r="8986" b="1559"/>
          <a:stretch>
            <a:fillRect/>
          </a:stretch>
        </p:blipFill>
        <p:spPr>
          <a:xfrm>
            <a:off x="19715502" y="25164342"/>
            <a:ext cx="3680791" cy="7081011"/>
          </a:xfrm>
          <a:prstGeom prst="rect">
            <a:avLst/>
          </a:prstGeom>
        </p:spPr>
      </p:pic>
      <p:pic>
        <p:nvPicPr>
          <p:cNvPr id="66" name="Picture 65" descr="A screenshot of a computer&#10;&#10;AI-generated content may be incorrect.">
            <a:extLst>
              <a:ext uri="{FF2B5EF4-FFF2-40B4-BE49-F238E27FC236}">
                <a16:creationId xmlns:a16="http://schemas.microsoft.com/office/drawing/2014/main" id="{BF5C0E33-AFC3-92BC-F807-A1C6E937D645}"/>
              </a:ext>
            </a:extLst>
          </p:cNvPr>
          <p:cNvPicPr>
            <a:picLocks noChangeAspect="1"/>
          </p:cNvPicPr>
          <p:nvPr/>
        </p:nvPicPr>
        <p:blipFill>
          <a:blip r:embed="rId17"/>
          <a:srcRect l="11683" t="10407" r="10719" b="6099"/>
          <a:stretch>
            <a:fillRect/>
          </a:stretch>
        </p:blipFill>
        <p:spPr>
          <a:xfrm>
            <a:off x="15572403" y="25152660"/>
            <a:ext cx="3680791" cy="7040850"/>
          </a:xfrm>
          <a:prstGeom prst="rect">
            <a:avLst/>
          </a:prstGeom>
        </p:spPr>
      </p:pic>
      <p:pic>
        <p:nvPicPr>
          <p:cNvPr id="68" name="Picture 67" descr="A screenshot of a computer&#10;&#10;AI-generated content may be incorrect.">
            <a:extLst>
              <a:ext uri="{FF2B5EF4-FFF2-40B4-BE49-F238E27FC236}">
                <a16:creationId xmlns:a16="http://schemas.microsoft.com/office/drawing/2014/main" id="{32728D51-0582-5A1D-2E1D-EE6726ADC7A7}"/>
              </a:ext>
            </a:extLst>
          </p:cNvPr>
          <p:cNvPicPr>
            <a:picLocks noChangeAspect="1"/>
          </p:cNvPicPr>
          <p:nvPr/>
        </p:nvPicPr>
        <p:blipFill>
          <a:blip r:embed="rId18"/>
          <a:srcRect l="9414" t="10407" r="10400" b="11743"/>
          <a:stretch>
            <a:fillRect/>
          </a:stretch>
        </p:blipFill>
        <p:spPr>
          <a:xfrm>
            <a:off x="28337342" y="25152660"/>
            <a:ext cx="4109359" cy="7092693"/>
          </a:xfrm>
          <a:prstGeom prst="rect">
            <a:avLst/>
          </a:prstGeom>
        </p:spPr>
      </p:pic>
      <p:sp>
        <p:nvSpPr>
          <p:cNvPr id="69" name="TextBox 68">
            <a:extLst>
              <a:ext uri="{FF2B5EF4-FFF2-40B4-BE49-F238E27FC236}">
                <a16:creationId xmlns:a16="http://schemas.microsoft.com/office/drawing/2014/main" id="{0B709936-1CDE-A6F2-CA0E-4DB212E3F5E3}"/>
              </a:ext>
            </a:extLst>
          </p:cNvPr>
          <p:cNvSpPr txBox="1"/>
          <p:nvPr/>
        </p:nvSpPr>
        <p:spPr>
          <a:xfrm>
            <a:off x="12340924" y="24626848"/>
            <a:ext cx="1989709" cy="369332"/>
          </a:xfrm>
          <a:prstGeom prst="rect">
            <a:avLst/>
          </a:prstGeom>
          <a:noFill/>
        </p:spPr>
        <p:txBody>
          <a:bodyPr wrap="square" rtlCol="0">
            <a:spAutoFit/>
          </a:bodyPr>
          <a:lstStyle/>
          <a:p>
            <a:r>
              <a:rPr lang="en-PR" sz="1800" dirty="0"/>
              <a:t>Search by Lab</a:t>
            </a:r>
          </a:p>
        </p:txBody>
      </p:sp>
      <p:sp>
        <p:nvSpPr>
          <p:cNvPr id="70" name="TextBox 69">
            <a:extLst>
              <a:ext uri="{FF2B5EF4-FFF2-40B4-BE49-F238E27FC236}">
                <a16:creationId xmlns:a16="http://schemas.microsoft.com/office/drawing/2014/main" id="{AA63F941-4E83-ACEC-08B1-786523B9761D}"/>
              </a:ext>
            </a:extLst>
          </p:cNvPr>
          <p:cNvSpPr txBox="1"/>
          <p:nvPr/>
        </p:nvSpPr>
        <p:spPr>
          <a:xfrm>
            <a:off x="16094425" y="24626847"/>
            <a:ext cx="2636746" cy="369332"/>
          </a:xfrm>
          <a:prstGeom prst="rect">
            <a:avLst/>
          </a:prstGeom>
          <a:noFill/>
        </p:spPr>
        <p:txBody>
          <a:bodyPr wrap="square" rtlCol="0">
            <a:spAutoFit/>
          </a:bodyPr>
          <a:lstStyle/>
          <a:p>
            <a:r>
              <a:rPr lang="en-PR" sz="1800" dirty="0"/>
              <a:t>Search by Assay Type</a:t>
            </a:r>
          </a:p>
        </p:txBody>
      </p:sp>
      <p:sp>
        <p:nvSpPr>
          <p:cNvPr id="71" name="TextBox 70">
            <a:extLst>
              <a:ext uri="{FF2B5EF4-FFF2-40B4-BE49-F238E27FC236}">
                <a16:creationId xmlns:a16="http://schemas.microsoft.com/office/drawing/2014/main" id="{2D090C3D-9F36-65EC-1D25-86F65D472D6F}"/>
              </a:ext>
            </a:extLst>
          </p:cNvPr>
          <p:cNvSpPr txBox="1"/>
          <p:nvPr/>
        </p:nvSpPr>
        <p:spPr>
          <a:xfrm>
            <a:off x="19805435" y="24570327"/>
            <a:ext cx="3590858" cy="369332"/>
          </a:xfrm>
          <a:prstGeom prst="rect">
            <a:avLst/>
          </a:prstGeom>
          <a:noFill/>
        </p:spPr>
        <p:txBody>
          <a:bodyPr wrap="square" rtlCol="0">
            <a:spAutoFit/>
          </a:bodyPr>
          <a:lstStyle/>
          <a:p>
            <a:r>
              <a:rPr lang="en-PR" sz="1800" dirty="0"/>
              <a:t>Search by Lab and Assay Type</a:t>
            </a:r>
          </a:p>
        </p:txBody>
      </p:sp>
      <p:sp>
        <p:nvSpPr>
          <p:cNvPr id="72" name="TextBox 71">
            <a:extLst>
              <a:ext uri="{FF2B5EF4-FFF2-40B4-BE49-F238E27FC236}">
                <a16:creationId xmlns:a16="http://schemas.microsoft.com/office/drawing/2014/main" id="{D5CFA536-8165-3302-A744-9EBD27303632}"/>
              </a:ext>
            </a:extLst>
          </p:cNvPr>
          <p:cNvSpPr txBox="1"/>
          <p:nvPr/>
        </p:nvSpPr>
        <p:spPr>
          <a:xfrm>
            <a:off x="24569289" y="24695811"/>
            <a:ext cx="2699950" cy="369332"/>
          </a:xfrm>
          <a:prstGeom prst="rect">
            <a:avLst/>
          </a:prstGeom>
          <a:noFill/>
        </p:spPr>
        <p:txBody>
          <a:bodyPr wrap="square" rtlCol="0">
            <a:spAutoFit/>
          </a:bodyPr>
          <a:lstStyle/>
          <a:p>
            <a:r>
              <a:rPr lang="en-PR" sz="1800" dirty="0"/>
              <a:t>Search by Hubmap id</a:t>
            </a:r>
          </a:p>
        </p:txBody>
      </p:sp>
      <p:sp>
        <p:nvSpPr>
          <p:cNvPr id="73" name="TextBox 72">
            <a:extLst>
              <a:ext uri="{FF2B5EF4-FFF2-40B4-BE49-F238E27FC236}">
                <a16:creationId xmlns:a16="http://schemas.microsoft.com/office/drawing/2014/main" id="{8C53D9B5-97EC-7BCA-6B2D-912094F8C672}"/>
              </a:ext>
            </a:extLst>
          </p:cNvPr>
          <p:cNvSpPr txBox="1"/>
          <p:nvPr/>
        </p:nvSpPr>
        <p:spPr>
          <a:xfrm>
            <a:off x="29195825" y="24681317"/>
            <a:ext cx="2691466" cy="369332"/>
          </a:xfrm>
          <a:prstGeom prst="rect">
            <a:avLst/>
          </a:prstGeom>
          <a:noFill/>
        </p:spPr>
        <p:txBody>
          <a:bodyPr wrap="square" rtlCol="0">
            <a:spAutoFit/>
          </a:bodyPr>
          <a:lstStyle/>
          <a:p>
            <a:r>
              <a:rPr lang="en-PR" sz="1800" dirty="0"/>
              <a:t>Search all Datasets</a:t>
            </a:r>
          </a:p>
        </p:txBody>
      </p:sp>
      <p:sp>
        <p:nvSpPr>
          <p:cNvPr id="74" name="Google Shape;34;p1">
            <a:extLst>
              <a:ext uri="{FF2B5EF4-FFF2-40B4-BE49-F238E27FC236}">
                <a16:creationId xmlns:a16="http://schemas.microsoft.com/office/drawing/2014/main" id="{888E63A4-7493-8F84-7522-D9696C161B43}"/>
              </a:ext>
            </a:extLst>
          </p:cNvPr>
          <p:cNvSpPr/>
          <p:nvPr/>
        </p:nvSpPr>
        <p:spPr>
          <a:xfrm>
            <a:off x="10868895" y="14935509"/>
            <a:ext cx="22101000" cy="7957566"/>
          </a:xfrm>
          <a:prstGeom prst="roundRect">
            <a:avLst>
              <a:gd name="adj" fmla="val 1937"/>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b="0" i="0" u="none" strike="noStrike" cap="none" dirty="0">
                <a:solidFill>
                  <a:schemeClr val="dk1"/>
                </a:solidFill>
                <a:latin typeface="Arial"/>
                <a:ea typeface="Arial"/>
                <a:cs typeface="Arial"/>
                <a:sym typeface="Arial"/>
              </a:rPr>
              <a:t> </a:t>
            </a:r>
            <a:endParaRPr sz="9600" b="0" i="0" u="none" strike="noStrike" cap="none" dirty="0">
              <a:solidFill>
                <a:schemeClr val="dk1"/>
              </a:solidFill>
              <a:latin typeface="Arial"/>
              <a:ea typeface="Arial"/>
              <a:cs typeface="Arial"/>
              <a:sym typeface="Arial"/>
            </a:endParaRPr>
          </a:p>
        </p:txBody>
      </p:sp>
      <p:sp>
        <p:nvSpPr>
          <p:cNvPr id="75" name="TextBox 74">
            <a:extLst>
              <a:ext uri="{FF2B5EF4-FFF2-40B4-BE49-F238E27FC236}">
                <a16:creationId xmlns:a16="http://schemas.microsoft.com/office/drawing/2014/main" id="{9DFBCF27-A976-ACA2-DF01-5D74E4C101A6}"/>
              </a:ext>
            </a:extLst>
          </p:cNvPr>
          <p:cNvSpPr txBox="1"/>
          <p:nvPr/>
        </p:nvSpPr>
        <p:spPr>
          <a:xfrm>
            <a:off x="772356" y="28921318"/>
            <a:ext cx="4093377" cy="3293209"/>
          </a:xfrm>
          <a:prstGeom prst="rect">
            <a:avLst/>
          </a:prstGeom>
          <a:noFill/>
        </p:spPr>
        <p:txBody>
          <a:bodyPr wrap="square" rtlCol="0">
            <a:spAutoFit/>
          </a:bodyPr>
          <a:lstStyle/>
          <a:p>
            <a:pPr marL="400050" lvl="2" indent="-400050">
              <a:buFont typeface="+mj-lt"/>
              <a:buAutoNum type="romanUcPeriod"/>
            </a:pPr>
            <a:r>
              <a:rPr lang="en-US" sz="1800" dirty="0"/>
              <a:t>FAIR structures different guidelines </a:t>
            </a:r>
          </a:p>
          <a:p>
            <a:pPr marL="400050" lvl="2" indent="-400050">
              <a:buFont typeface="+mj-lt"/>
              <a:buAutoNum type="romanUcPeriod"/>
            </a:pPr>
            <a:r>
              <a:rPr lang="en-US" sz="1800" dirty="0"/>
              <a:t>Adapting FAIR structures to HUBMAP</a:t>
            </a:r>
          </a:p>
          <a:p>
            <a:pPr marL="400050" lvl="2" indent="-400050">
              <a:buFont typeface="+mj-lt"/>
              <a:buAutoNum type="romanUcPeriod"/>
            </a:pPr>
            <a:endParaRPr lang="en-US" sz="1800" dirty="0"/>
          </a:p>
          <a:p>
            <a:pPr marL="400050" lvl="2" indent="-400050">
              <a:buFont typeface="+mj-lt"/>
              <a:buAutoNum type="romanUcPeriod"/>
            </a:pPr>
            <a:r>
              <a:rPr lang="en-US" sz="1800" dirty="0"/>
              <a:t>Creating Multi assays evaluation</a:t>
            </a:r>
          </a:p>
          <a:p>
            <a:pPr marL="400050" lvl="2" indent="-400050">
              <a:buFont typeface="+mj-lt"/>
              <a:buAutoNum type="romanUcPeriod"/>
            </a:pPr>
            <a:endParaRPr lang="en-US" sz="1800" dirty="0"/>
          </a:p>
          <a:p>
            <a:pPr marL="400050" lvl="2" indent="-400050">
              <a:buFont typeface="+mj-lt"/>
              <a:buAutoNum type="romanUcPeriod"/>
            </a:pPr>
            <a:r>
              <a:rPr lang="en-US" sz="1800" dirty="0"/>
              <a:t>Creating Multi Version evaluation</a:t>
            </a:r>
          </a:p>
          <a:p>
            <a:pPr marL="400050" lvl="2" indent="-400050">
              <a:buFont typeface="+mj-lt"/>
              <a:buAutoNum type="romanUcPeriod"/>
            </a:pPr>
            <a:endParaRPr lang="en-US" sz="2800" dirty="0">
              <a:latin typeface="Helvetica Neue" panose="02000503000000020004" pitchFamily="2" charset="0"/>
            </a:endParaRPr>
          </a:p>
          <a:p>
            <a:pPr marL="400050" lvl="2" indent="-400050">
              <a:buFont typeface="+mj-lt"/>
              <a:buAutoNum type="romanUcPeriod"/>
            </a:pPr>
            <a:r>
              <a:rPr lang="en-US" sz="1800" dirty="0"/>
              <a:t>Merging Data evaluation (all versions and all assays types)</a:t>
            </a:r>
          </a:p>
        </p:txBody>
      </p:sp>
      <p:sp>
        <p:nvSpPr>
          <p:cNvPr id="3" name="Google Shape;34;p1">
            <a:extLst>
              <a:ext uri="{FF2B5EF4-FFF2-40B4-BE49-F238E27FC236}">
                <a16:creationId xmlns:a16="http://schemas.microsoft.com/office/drawing/2014/main" id="{4BA8D617-AB2A-9EE4-7C6F-9B1D17CC9EBC}"/>
              </a:ext>
            </a:extLst>
          </p:cNvPr>
          <p:cNvSpPr/>
          <p:nvPr/>
        </p:nvSpPr>
        <p:spPr>
          <a:xfrm>
            <a:off x="10788838" y="7091461"/>
            <a:ext cx="32838588" cy="7445512"/>
          </a:xfrm>
          <a:prstGeom prst="roundRect">
            <a:avLst>
              <a:gd name="adj" fmla="val 1937"/>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b="0" i="0" u="none" strike="noStrike" cap="none" dirty="0">
                <a:solidFill>
                  <a:schemeClr val="dk1"/>
                </a:solidFill>
                <a:latin typeface="Arial"/>
                <a:ea typeface="Arial"/>
                <a:cs typeface="Arial"/>
                <a:sym typeface="Arial"/>
              </a:rPr>
              <a:t> </a:t>
            </a:r>
            <a:endParaRPr sz="9600" b="0" i="0" u="none" strike="noStrike" cap="none" dirty="0">
              <a:solidFill>
                <a:schemeClr val="dk1"/>
              </a:solidFill>
              <a:latin typeface="Arial"/>
              <a:ea typeface="Arial"/>
              <a:cs typeface="Arial"/>
              <a:sym typeface="Arial"/>
            </a:endParaRPr>
          </a:p>
        </p:txBody>
      </p:sp>
      <p:sp>
        <p:nvSpPr>
          <p:cNvPr id="6" name="Google Shape;23;p1">
            <a:extLst>
              <a:ext uri="{FF2B5EF4-FFF2-40B4-BE49-F238E27FC236}">
                <a16:creationId xmlns:a16="http://schemas.microsoft.com/office/drawing/2014/main" id="{25A0AB29-9A76-9C4E-D2D6-E0CA3F37C229}"/>
              </a:ext>
            </a:extLst>
          </p:cNvPr>
          <p:cNvSpPr txBox="1"/>
          <p:nvPr/>
        </p:nvSpPr>
        <p:spPr>
          <a:xfrm>
            <a:off x="10943102" y="7546964"/>
            <a:ext cx="32464547" cy="64629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3600" b="1" dirty="0">
                <a:solidFill>
                  <a:srgbClr val="FF0000"/>
                </a:solidFill>
              </a:rPr>
              <a:t>Infrastructure Analysis </a:t>
            </a:r>
            <a:endParaRPr sz="3600" b="1" dirty="0">
              <a:solidFill>
                <a:srgbClr val="FF0000"/>
              </a:solidFill>
            </a:endParaRPr>
          </a:p>
        </p:txBody>
      </p:sp>
      <p:sp>
        <p:nvSpPr>
          <p:cNvPr id="7" name="Google Shape;23;p1">
            <a:extLst>
              <a:ext uri="{FF2B5EF4-FFF2-40B4-BE49-F238E27FC236}">
                <a16:creationId xmlns:a16="http://schemas.microsoft.com/office/drawing/2014/main" id="{A06DFD4F-52F1-8F95-6BE7-6ACC9132774D}"/>
              </a:ext>
            </a:extLst>
          </p:cNvPr>
          <p:cNvSpPr txBox="1"/>
          <p:nvPr/>
        </p:nvSpPr>
        <p:spPr>
          <a:xfrm>
            <a:off x="11089276" y="15262177"/>
            <a:ext cx="21762606" cy="64629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3600" b="1" dirty="0">
                <a:solidFill>
                  <a:srgbClr val="FF0000"/>
                </a:solidFill>
              </a:rPr>
              <a:t>Infrastructure Overview</a:t>
            </a:r>
          </a:p>
        </p:txBody>
      </p:sp>
      <p:grpSp>
        <p:nvGrpSpPr>
          <p:cNvPr id="9" name="Group 8">
            <a:extLst>
              <a:ext uri="{FF2B5EF4-FFF2-40B4-BE49-F238E27FC236}">
                <a16:creationId xmlns:a16="http://schemas.microsoft.com/office/drawing/2014/main" id="{98E4B7A9-933D-0164-571E-B354D8229B98}"/>
              </a:ext>
            </a:extLst>
          </p:cNvPr>
          <p:cNvGrpSpPr/>
          <p:nvPr/>
        </p:nvGrpSpPr>
        <p:grpSpPr>
          <a:xfrm>
            <a:off x="5577550" y="28701531"/>
            <a:ext cx="4639622" cy="3190816"/>
            <a:chOff x="5143056" y="28484254"/>
            <a:chExt cx="4639622" cy="1539612"/>
          </a:xfrm>
        </p:grpSpPr>
        <p:sp>
          <p:nvSpPr>
            <p:cNvPr id="45" name="Google Shape;31;p1">
              <a:extLst>
                <a:ext uri="{FF2B5EF4-FFF2-40B4-BE49-F238E27FC236}">
                  <a16:creationId xmlns:a16="http://schemas.microsoft.com/office/drawing/2014/main" id="{958A5198-699C-2BAB-29A8-9A2AC72194F7}"/>
                </a:ext>
              </a:extLst>
            </p:cNvPr>
            <p:cNvSpPr/>
            <p:nvPr/>
          </p:nvSpPr>
          <p:spPr>
            <a:xfrm>
              <a:off x="5143056" y="28484254"/>
              <a:ext cx="4469710" cy="1415772"/>
            </a:xfrm>
            <a:prstGeom prst="roundRect">
              <a:avLst>
                <a:gd name="adj" fmla="val 1822"/>
              </a:avLst>
            </a:prstGeom>
            <a:noFill/>
            <a:ln>
              <a:solidFill>
                <a:schemeClr val="tx1"/>
              </a:solidFill>
            </a:ln>
          </p:spPr>
          <p:txBody>
            <a:bodyPr spcFirstLastPara="1" wrap="square" lIns="91425" tIns="45700" rIns="91425" bIns="45700" anchor="ctr" anchorCtr="0">
              <a:noAutofit/>
            </a:bodyPr>
            <a:lstStyle/>
            <a:p>
              <a:pPr lvl="0">
                <a:buClr>
                  <a:schemeClr val="dk1"/>
                </a:buClr>
                <a:buSzPts val="1100"/>
              </a:pPr>
              <a:endParaRPr lang="en-US" sz="1600" dirty="0">
                <a:solidFill>
                  <a:schemeClr val="dk1"/>
                </a:solidFill>
              </a:endParaRPr>
            </a:p>
          </p:txBody>
        </p:sp>
        <p:sp>
          <p:nvSpPr>
            <p:cNvPr id="8" name="TextBox 7">
              <a:extLst>
                <a:ext uri="{FF2B5EF4-FFF2-40B4-BE49-F238E27FC236}">
                  <a16:creationId xmlns:a16="http://schemas.microsoft.com/office/drawing/2014/main" id="{109C889F-A4C8-C968-B65C-ED10BFCB01A8}"/>
                </a:ext>
              </a:extLst>
            </p:cNvPr>
            <p:cNvSpPr txBox="1"/>
            <p:nvPr/>
          </p:nvSpPr>
          <p:spPr>
            <a:xfrm>
              <a:off x="5312969" y="28538802"/>
              <a:ext cx="4469709" cy="1485064"/>
            </a:xfrm>
            <a:prstGeom prst="rect">
              <a:avLst/>
            </a:prstGeom>
            <a:noFill/>
          </p:spPr>
          <p:txBody>
            <a:bodyPr wrap="square" rtlCol="0">
              <a:spAutoFit/>
            </a:bodyPr>
            <a:lstStyle/>
            <a:p>
              <a:pPr marL="400050" lvl="2" indent="-400050">
                <a:buFont typeface="+mj-lt"/>
                <a:buAutoNum type="romanUcPeriod"/>
              </a:pPr>
              <a:r>
                <a:rPr lang="en-US" sz="1800" dirty="0"/>
                <a:t>Reviewing the merging Data of the evaluation </a:t>
              </a:r>
            </a:p>
            <a:p>
              <a:pPr marL="400050" lvl="2" indent="-400050">
                <a:buFont typeface="+mj-lt"/>
                <a:buAutoNum type="romanUcPeriod"/>
              </a:pPr>
              <a:endParaRPr lang="en-US" sz="1800" dirty="0"/>
            </a:p>
            <a:p>
              <a:pPr marL="400050" lvl="2" indent="-400050">
                <a:buFont typeface="+mj-lt"/>
                <a:buAutoNum type="romanUcPeriod"/>
              </a:pPr>
              <a:r>
                <a:rPr lang="en-US" sz="1800" dirty="0"/>
                <a:t>Creation FAIR Calculations Custom for HUBMAP</a:t>
              </a:r>
            </a:p>
            <a:p>
              <a:pPr marL="400050" lvl="2" indent="-400050">
                <a:buFont typeface="+mj-lt"/>
                <a:buAutoNum type="romanUcPeriod"/>
              </a:pPr>
              <a:r>
                <a:rPr lang="en-US" sz="1800" dirty="0"/>
                <a:t>How to evaluate and scoring</a:t>
              </a:r>
            </a:p>
            <a:p>
              <a:pPr marL="400050" lvl="2" indent="-400050">
                <a:buFont typeface="+mj-lt"/>
                <a:buAutoNum type="romanUcPeriod"/>
              </a:pPr>
              <a:endParaRPr lang="en-US" sz="1800" dirty="0"/>
            </a:p>
            <a:p>
              <a:pPr marL="400050" lvl="2" indent="-400050">
                <a:buFont typeface="+mj-lt"/>
                <a:buAutoNum type="romanUcPeriod"/>
              </a:pPr>
              <a:r>
                <a:rPr lang="en-US" sz="1800" dirty="0"/>
                <a:t>Pre-computing calculations</a:t>
              </a:r>
            </a:p>
            <a:p>
              <a:pPr marL="400050" lvl="2" indent="-400050">
                <a:buFont typeface="+mj-lt"/>
                <a:buAutoNum type="romanUcPeriod"/>
              </a:pPr>
              <a:endParaRPr lang="en-US" sz="1800" dirty="0"/>
            </a:p>
            <a:p>
              <a:pPr marL="400050" lvl="2" indent="-400050">
                <a:buFont typeface="+mj-lt"/>
                <a:buAutoNum type="romanUcPeriod"/>
              </a:pPr>
              <a:r>
                <a:rPr lang="en-US" sz="1800" dirty="0"/>
                <a:t>Displaying Results</a:t>
              </a:r>
            </a:p>
            <a:p>
              <a:endParaRPr lang="en-PR" dirty="0"/>
            </a:p>
          </p:txBody>
        </p:sp>
      </p:grpSp>
      <p:grpSp>
        <p:nvGrpSpPr>
          <p:cNvPr id="12" name="Group 11">
            <a:extLst>
              <a:ext uri="{FF2B5EF4-FFF2-40B4-BE49-F238E27FC236}">
                <a16:creationId xmlns:a16="http://schemas.microsoft.com/office/drawing/2014/main" id="{4415FA3E-E747-3B90-7FB3-A59AF718D7C9}"/>
              </a:ext>
            </a:extLst>
          </p:cNvPr>
          <p:cNvGrpSpPr/>
          <p:nvPr/>
        </p:nvGrpSpPr>
        <p:grpSpPr>
          <a:xfrm>
            <a:off x="545098" y="25551167"/>
            <a:ext cx="5818281" cy="1354187"/>
            <a:chOff x="405593" y="25880786"/>
            <a:chExt cx="5315057" cy="1371595"/>
          </a:xfrm>
        </p:grpSpPr>
        <p:sp>
          <p:nvSpPr>
            <p:cNvPr id="52" name="Google Shape;52;p1"/>
            <p:cNvSpPr txBox="1"/>
            <p:nvPr/>
          </p:nvSpPr>
          <p:spPr>
            <a:xfrm>
              <a:off x="405593" y="25898194"/>
              <a:ext cx="1619752" cy="1354187"/>
            </a:xfrm>
            <a:prstGeom prst="rect">
              <a:avLst/>
            </a:prstGeom>
            <a:noFill/>
            <a:ln>
              <a:noFill/>
            </a:ln>
          </p:spPr>
          <p:txBody>
            <a:bodyPr spcFirstLastPara="1" wrap="square" lIns="91425" tIns="91425" rIns="91425" bIns="91425" numCol="1" anchor="t" anchorCtr="0">
              <a:spAutoFit/>
            </a:bodyPr>
            <a:lstStyle/>
            <a:p>
              <a:pPr marL="457200" marR="0" lvl="0" indent="-349250" algn="l" rtl="0">
                <a:lnSpc>
                  <a:spcPct val="100000"/>
                </a:lnSpc>
                <a:spcBef>
                  <a:spcPts val="0"/>
                </a:spcBef>
                <a:spcAft>
                  <a:spcPts val="0"/>
                </a:spcAft>
                <a:buClr>
                  <a:schemeClr val="dk1"/>
                </a:buClr>
                <a:buSzPts val="1900"/>
                <a:buChar char="●"/>
              </a:pPr>
              <a:r>
                <a:rPr lang="en-US" sz="1900" dirty="0">
                  <a:solidFill>
                    <a:schemeClr val="dk1"/>
                  </a:solidFill>
                </a:rPr>
                <a:t>Seaborn</a:t>
              </a:r>
            </a:p>
            <a:p>
              <a:pPr marL="457200" marR="0" lvl="0" indent="-349250" algn="l" rtl="0">
                <a:lnSpc>
                  <a:spcPct val="100000"/>
                </a:lnSpc>
                <a:spcBef>
                  <a:spcPts val="0"/>
                </a:spcBef>
                <a:spcAft>
                  <a:spcPts val="0"/>
                </a:spcAft>
                <a:buClr>
                  <a:schemeClr val="dk1"/>
                </a:buClr>
                <a:buSzPts val="1900"/>
                <a:buChar char="●"/>
              </a:pPr>
              <a:r>
                <a:rPr lang="en-US" sz="1900" dirty="0" err="1">
                  <a:solidFill>
                    <a:schemeClr val="dk1"/>
                  </a:solidFill>
                </a:rPr>
                <a:t>Plotly</a:t>
              </a:r>
              <a:endParaRPr lang="en-US" sz="1900" dirty="0">
                <a:solidFill>
                  <a:schemeClr val="dk1"/>
                </a:solidFill>
              </a:endParaRPr>
            </a:p>
            <a:p>
              <a:pPr marL="457200" lvl="0" indent="-349250">
                <a:buClr>
                  <a:schemeClr val="dk1"/>
                </a:buClr>
                <a:buSzPts val="1900"/>
                <a:buChar char="●"/>
              </a:pPr>
              <a:r>
                <a:rPr lang="en-US" sz="1900" dirty="0" err="1">
                  <a:solidFill>
                    <a:schemeClr val="dk1"/>
                  </a:solidFill>
                </a:rPr>
                <a:t>tqdm</a:t>
              </a:r>
              <a:endParaRPr lang="en-US" sz="1900" dirty="0">
                <a:solidFill>
                  <a:schemeClr val="dk1"/>
                </a:solidFill>
              </a:endParaRPr>
            </a:p>
            <a:p>
              <a:pPr marL="457200" marR="0" lvl="0" indent="-349250" algn="l" rtl="0">
                <a:lnSpc>
                  <a:spcPct val="100000"/>
                </a:lnSpc>
                <a:spcBef>
                  <a:spcPts val="0"/>
                </a:spcBef>
                <a:spcAft>
                  <a:spcPts val="0"/>
                </a:spcAft>
                <a:buClr>
                  <a:schemeClr val="dk1"/>
                </a:buClr>
                <a:buSzPts val="1900"/>
                <a:buChar char="●"/>
              </a:pPr>
              <a:endParaRPr sz="1900" i="0" u="none" strike="noStrike" cap="none" dirty="0">
                <a:solidFill>
                  <a:schemeClr val="dk1"/>
                </a:solidFill>
              </a:endParaRPr>
            </a:p>
          </p:txBody>
        </p:sp>
        <p:sp>
          <p:nvSpPr>
            <p:cNvPr id="10" name="TextBox 9">
              <a:extLst>
                <a:ext uri="{FF2B5EF4-FFF2-40B4-BE49-F238E27FC236}">
                  <a16:creationId xmlns:a16="http://schemas.microsoft.com/office/drawing/2014/main" id="{366C965F-7E36-CF49-1927-82153DE04B63}"/>
                </a:ext>
              </a:extLst>
            </p:cNvPr>
            <p:cNvSpPr txBox="1"/>
            <p:nvPr/>
          </p:nvSpPr>
          <p:spPr>
            <a:xfrm>
              <a:off x="3935185" y="25880786"/>
              <a:ext cx="1785465" cy="969496"/>
            </a:xfrm>
            <a:prstGeom prst="rect">
              <a:avLst/>
            </a:prstGeom>
            <a:noFill/>
          </p:spPr>
          <p:txBody>
            <a:bodyPr wrap="square" rtlCol="0">
              <a:spAutoFit/>
            </a:bodyPr>
            <a:lstStyle/>
            <a:p>
              <a:pPr marL="457200" lvl="0" indent="-349250">
                <a:buClr>
                  <a:schemeClr val="dk1"/>
                </a:buClr>
                <a:buSzPts val="1900"/>
                <a:buChar char="●"/>
              </a:pPr>
              <a:r>
                <a:rPr lang="en-US" sz="1900" dirty="0">
                  <a:solidFill>
                    <a:schemeClr val="dk1"/>
                  </a:solidFill>
                </a:rPr>
                <a:t>Matplotlib</a:t>
              </a:r>
            </a:p>
            <a:p>
              <a:pPr marL="457200" lvl="0" indent="-349250">
                <a:buClr>
                  <a:schemeClr val="dk1"/>
                </a:buClr>
                <a:buSzPts val="1900"/>
                <a:buChar char="●"/>
              </a:pPr>
              <a:r>
                <a:rPr lang="en-US" sz="1900" dirty="0">
                  <a:solidFill>
                    <a:schemeClr val="dk1"/>
                  </a:solidFill>
                </a:rPr>
                <a:t>Pandas</a:t>
              </a:r>
            </a:p>
            <a:p>
              <a:pPr marL="457200" lvl="0" indent="-349250">
                <a:buClr>
                  <a:schemeClr val="dk1"/>
                </a:buClr>
                <a:buSzPts val="1900"/>
                <a:buChar char="●"/>
              </a:pPr>
              <a:r>
                <a:rPr lang="en-US" sz="1900" dirty="0" err="1">
                  <a:solidFill>
                    <a:schemeClr val="dk1"/>
                  </a:solidFill>
                </a:rPr>
                <a:t>Numpy</a:t>
              </a:r>
              <a:endParaRPr lang="en-US" sz="1900" dirty="0">
                <a:solidFill>
                  <a:schemeClr val="dk1"/>
                </a:solidFill>
              </a:endParaRPr>
            </a:p>
          </p:txBody>
        </p:sp>
        <p:sp>
          <p:nvSpPr>
            <p:cNvPr id="11" name="TextBox 10">
              <a:extLst>
                <a:ext uri="{FF2B5EF4-FFF2-40B4-BE49-F238E27FC236}">
                  <a16:creationId xmlns:a16="http://schemas.microsoft.com/office/drawing/2014/main" id="{8D35381F-809A-CA4F-568F-E028216B58C4}"/>
                </a:ext>
              </a:extLst>
            </p:cNvPr>
            <p:cNvSpPr txBox="1"/>
            <p:nvPr/>
          </p:nvSpPr>
          <p:spPr>
            <a:xfrm>
              <a:off x="1821305" y="25902554"/>
              <a:ext cx="2271923" cy="969496"/>
            </a:xfrm>
            <a:prstGeom prst="rect">
              <a:avLst/>
            </a:prstGeom>
            <a:noFill/>
          </p:spPr>
          <p:txBody>
            <a:bodyPr wrap="square" rtlCol="0">
              <a:spAutoFit/>
            </a:bodyPr>
            <a:lstStyle/>
            <a:p>
              <a:pPr marL="457200" lvl="0" indent="-349250">
                <a:buClr>
                  <a:schemeClr val="dk1"/>
                </a:buClr>
                <a:buSzPts val="1900"/>
                <a:buChar char="●"/>
              </a:pPr>
              <a:r>
                <a:rPr lang="en-US" sz="1900" dirty="0" err="1">
                  <a:solidFill>
                    <a:schemeClr val="dk1"/>
                  </a:solidFill>
                </a:rPr>
                <a:t>Streamlit</a:t>
              </a:r>
              <a:endParaRPr lang="en-US" sz="1900" dirty="0">
                <a:solidFill>
                  <a:schemeClr val="dk1"/>
                </a:solidFill>
              </a:endParaRPr>
            </a:p>
            <a:p>
              <a:pPr marL="457200" lvl="0" indent="-349250">
                <a:buClr>
                  <a:schemeClr val="dk1"/>
                </a:buClr>
                <a:buSzPts val="1900"/>
                <a:buChar char="●"/>
              </a:pPr>
              <a:r>
                <a:rPr lang="en-US" sz="1900" dirty="0">
                  <a:solidFill>
                    <a:schemeClr val="dk1"/>
                  </a:solidFill>
                </a:rPr>
                <a:t>Request </a:t>
              </a:r>
            </a:p>
            <a:p>
              <a:pPr marL="457200" lvl="0" indent="-349250">
                <a:buClr>
                  <a:schemeClr val="dk1"/>
                </a:buClr>
                <a:buSzPts val="1900"/>
                <a:buChar char="●"/>
              </a:pPr>
              <a:r>
                <a:rPr lang="en-US" sz="1900" dirty="0" err="1">
                  <a:solidFill>
                    <a:schemeClr val="dk1"/>
                  </a:solidFill>
                </a:rPr>
                <a:t>hubmap_sdk</a:t>
              </a:r>
              <a:endParaRPr lang="en-US" sz="1900" dirty="0">
                <a:solidFill>
                  <a:schemeClr val="dk1"/>
                </a:solidFill>
              </a:endParaRPr>
            </a:p>
          </p:txBody>
        </p:sp>
      </p:grpSp>
      <p:sp>
        <p:nvSpPr>
          <p:cNvPr id="13" name="Google Shape;31;p1">
            <a:extLst>
              <a:ext uri="{FF2B5EF4-FFF2-40B4-BE49-F238E27FC236}">
                <a16:creationId xmlns:a16="http://schemas.microsoft.com/office/drawing/2014/main" id="{EB316738-F09E-1DE8-0776-EAC97FDFFA9C}"/>
              </a:ext>
            </a:extLst>
          </p:cNvPr>
          <p:cNvSpPr/>
          <p:nvPr/>
        </p:nvSpPr>
        <p:spPr>
          <a:xfrm>
            <a:off x="6224288" y="25516241"/>
            <a:ext cx="3769515" cy="801884"/>
          </a:xfrm>
          <a:prstGeom prst="roundRect">
            <a:avLst>
              <a:gd name="adj" fmla="val 1822"/>
            </a:avLst>
          </a:prstGeom>
          <a:noFill/>
          <a:ln>
            <a:solidFill>
              <a:schemeClr val="tx1"/>
            </a:solidFill>
          </a:ln>
        </p:spPr>
        <p:txBody>
          <a:bodyPr spcFirstLastPara="1" wrap="square" lIns="91425" tIns="45700" rIns="91425" bIns="45700" anchor="ctr" anchorCtr="0">
            <a:noAutofit/>
          </a:bodyPr>
          <a:lstStyle/>
          <a:p>
            <a:pPr lvl="0">
              <a:buClr>
                <a:schemeClr val="dk1"/>
              </a:buClr>
              <a:buSzPts val="1100"/>
            </a:pPr>
            <a:endParaRPr lang="en-US" sz="1600" dirty="0">
              <a:solidFill>
                <a:schemeClr val="dk1"/>
              </a:solidFill>
            </a:endParaRPr>
          </a:p>
        </p:txBody>
      </p:sp>
      <p:sp>
        <p:nvSpPr>
          <p:cNvPr id="32" name="Google Shape;31;p1">
            <a:extLst>
              <a:ext uri="{FF2B5EF4-FFF2-40B4-BE49-F238E27FC236}">
                <a16:creationId xmlns:a16="http://schemas.microsoft.com/office/drawing/2014/main" id="{E73DF14D-773C-F4E7-CC6B-18262741AFCD}"/>
              </a:ext>
            </a:extLst>
          </p:cNvPr>
          <p:cNvSpPr/>
          <p:nvPr/>
        </p:nvSpPr>
        <p:spPr>
          <a:xfrm>
            <a:off x="545098" y="25521680"/>
            <a:ext cx="5542058" cy="1110220"/>
          </a:xfrm>
          <a:prstGeom prst="roundRect">
            <a:avLst>
              <a:gd name="adj" fmla="val 1822"/>
            </a:avLst>
          </a:prstGeom>
          <a:noFill/>
          <a:ln>
            <a:solidFill>
              <a:schemeClr val="tx1"/>
            </a:solidFill>
          </a:ln>
        </p:spPr>
        <p:txBody>
          <a:bodyPr spcFirstLastPara="1" wrap="square" lIns="91425" tIns="45700" rIns="91425" bIns="45700" anchor="ctr" anchorCtr="0">
            <a:noAutofit/>
          </a:bodyPr>
          <a:lstStyle/>
          <a:p>
            <a:pPr lvl="0">
              <a:buClr>
                <a:schemeClr val="dk1"/>
              </a:buClr>
              <a:buSzPts val="1100"/>
            </a:pPr>
            <a:endParaRPr lang="en-US" sz="1600" dirty="0">
              <a:solidFill>
                <a:schemeClr val="dk1"/>
              </a:solidFill>
            </a:endParaRPr>
          </a:p>
        </p:txBody>
      </p:sp>
      <p:sp>
        <p:nvSpPr>
          <p:cNvPr id="39" name="Google Shape;31;p1">
            <a:extLst>
              <a:ext uri="{FF2B5EF4-FFF2-40B4-BE49-F238E27FC236}">
                <a16:creationId xmlns:a16="http://schemas.microsoft.com/office/drawing/2014/main" id="{CEEE4B8A-62C6-F44E-B1F8-2913AD8FDDF3}"/>
              </a:ext>
            </a:extLst>
          </p:cNvPr>
          <p:cNvSpPr/>
          <p:nvPr/>
        </p:nvSpPr>
        <p:spPr>
          <a:xfrm>
            <a:off x="687400" y="28780549"/>
            <a:ext cx="4093377" cy="3550993"/>
          </a:xfrm>
          <a:prstGeom prst="roundRect">
            <a:avLst>
              <a:gd name="adj" fmla="val 1822"/>
            </a:avLst>
          </a:prstGeom>
          <a:noFill/>
          <a:ln>
            <a:solidFill>
              <a:schemeClr val="tx1"/>
            </a:solidFill>
          </a:ln>
        </p:spPr>
        <p:txBody>
          <a:bodyPr spcFirstLastPara="1" wrap="square" lIns="91425" tIns="45700" rIns="91425" bIns="45700" anchor="ctr" anchorCtr="0">
            <a:noAutofit/>
          </a:bodyPr>
          <a:lstStyle/>
          <a:p>
            <a:pPr lvl="0">
              <a:buClr>
                <a:schemeClr val="dk1"/>
              </a:buClr>
              <a:buSzPts val="1100"/>
            </a:pPr>
            <a:endParaRPr lang="en-US" sz="1600" dirty="0">
              <a:solidFill>
                <a:schemeClr val="dk1"/>
              </a:solidFill>
            </a:endParaRPr>
          </a:p>
        </p:txBody>
      </p:sp>
      <p:pic>
        <p:nvPicPr>
          <p:cNvPr id="41" name="Graphic 40">
            <a:extLst>
              <a:ext uri="{FF2B5EF4-FFF2-40B4-BE49-F238E27FC236}">
                <a16:creationId xmlns:a16="http://schemas.microsoft.com/office/drawing/2014/main" id="{47473169-DEF7-0C4C-DAC1-EE3403BB84A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534792" y="16346796"/>
            <a:ext cx="7317090" cy="6336096"/>
          </a:xfrm>
          <a:prstGeom prst="rect">
            <a:avLst/>
          </a:prstGeom>
        </p:spPr>
      </p:pic>
      <p:grpSp>
        <p:nvGrpSpPr>
          <p:cNvPr id="67" name="Group 66">
            <a:extLst>
              <a:ext uri="{FF2B5EF4-FFF2-40B4-BE49-F238E27FC236}">
                <a16:creationId xmlns:a16="http://schemas.microsoft.com/office/drawing/2014/main" id="{7239F82E-B524-FC82-1917-0E73EDA5371A}"/>
              </a:ext>
            </a:extLst>
          </p:cNvPr>
          <p:cNvGrpSpPr/>
          <p:nvPr/>
        </p:nvGrpSpPr>
        <p:grpSpPr>
          <a:xfrm>
            <a:off x="11089276" y="16552765"/>
            <a:ext cx="5005149" cy="5853504"/>
            <a:chOff x="20765729" y="16261315"/>
            <a:chExt cx="6282813" cy="6477636"/>
          </a:xfrm>
        </p:grpSpPr>
        <p:sp>
          <p:nvSpPr>
            <p:cNvPr id="63" name="Rectangle 62">
              <a:extLst>
                <a:ext uri="{FF2B5EF4-FFF2-40B4-BE49-F238E27FC236}">
                  <a16:creationId xmlns:a16="http://schemas.microsoft.com/office/drawing/2014/main" id="{4D461A55-7AAE-DE88-5DA0-084D5A8CF9DB}"/>
                </a:ext>
              </a:extLst>
            </p:cNvPr>
            <p:cNvSpPr/>
            <p:nvPr/>
          </p:nvSpPr>
          <p:spPr>
            <a:xfrm>
              <a:off x="20765729" y="16261315"/>
              <a:ext cx="6282813" cy="6477636"/>
            </a:xfrm>
            <a:prstGeom prst="rect">
              <a:avLst/>
            </a:prstGeom>
            <a:solidFill>
              <a:schemeClr val="accent1">
                <a:alpha val="3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R"/>
            </a:p>
          </p:txBody>
        </p:sp>
        <p:pic>
          <p:nvPicPr>
            <p:cNvPr id="43" name="Graphic 42">
              <a:extLst>
                <a:ext uri="{FF2B5EF4-FFF2-40B4-BE49-F238E27FC236}">
                  <a16:creationId xmlns:a16="http://schemas.microsoft.com/office/drawing/2014/main" id="{13672615-B5C1-CCF6-DD1F-73565706205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1101608" y="16485998"/>
              <a:ext cx="2104417" cy="2999629"/>
            </a:xfrm>
            <a:prstGeom prst="rect">
              <a:avLst/>
            </a:prstGeom>
          </p:spPr>
        </p:pic>
        <p:pic>
          <p:nvPicPr>
            <p:cNvPr id="50" name="Graphic 49">
              <a:extLst>
                <a:ext uri="{FF2B5EF4-FFF2-40B4-BE49-F238E27FC236}">
                  <a16:creationId xmlns:a16="http://schemas.microsoft.com/office/drawing/2014/main" id="{6DBF229A-FD71-8579-B907-A2B858A8604A}"/>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1089256" y="19629061"/>
              <a:ext cx="2563318" cy="2999628"/>
            </a:xfrm>
            <a:prstGeom prst="rect">
              <a:avLst/>
            </a:prstGeom>
          </p:spPr>
        </p:pic>
        <p:pic>
          <p:nvPicPr>
            <p:cNvPr id="56" name="Graphic 55">
              <a:extLst>
                <a:ext uri="{FF2B5EF4-FFF2-40B4-BE49-F238E27FC236}">
                  <a16:creationId xmlns:a16="http://schemas.microsoft.com/office/drawing/2014/main" id="{4DD54A38-18BE-D8F2-F83E-94FCEB525CDA}"/>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3869273" y="16485998"/>
              <a:ext cx="2972830" cy="2972830"/>
            </a:xfrm>
            <a:prstGeom prst="rect">
              <a:avLst/>
            </a:prstGeom>
          </p:spPr>
        </p:pic>
        <p:pic>
          <p:nvPicPr>
            <p:cNvPr id="61" name="Graphic 60">
              <a:extLst>
                <a:ext uri="{FF2B5EF4-FFF2-40B4-BE49-F238E27FC236}">
                  <a16:creationId xmlns:a16="http://schemas.microsoft.com/office/drawing/2014/main" id="{306F9842-21A3-3F1A-56A1-ADA311993307}"/>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3944853" y="19600194"/>
              <a:ext cx="2897250" cy="2972830"/>
            </a:xfrm>
            <a:prstGeom prst="rect">
              <a:avLst/>
            </a:prstGeom>
          </p:spPr>
        </p:pic>
      </p:grpSp>
      <p:sp>
        <p:nvSpPr>
          <p:cNvPr id="65" name="Google Shape;23;p1">
            <a:extLst>
              <a:ext uri="{FF2B5EF4-FFF2-40B4-BE49-F238E27FC236}">
                <a16:creationId xmlns:a16="http://schemas.microsoft.com/office/drawing/2014/main" id="{1994C765-DAC5-38D3-8DEE-8F6F1F47DB51}"/>
              </a:ext>
            </a:extLst>
          </p:cNvPr>
          <p:cNvSpPr txBox="1"/>
          <p:nvPr/>
        </p:nvSpPr>
        <p:spPr>
          <a:xfrm>
            <a:off x="24956509" y="16921369"/>
            <a:ext cx="6583910" cy="38468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1900" dirty="0">
                <a:solidFill>
                  <a:srgbClr val="FF0000"/>
                </a:solidFill>
              </a:rPr>
              <a:t>Connection of the structure </a:t>
            </a:r>
            <a:endParaRPr sz="1900" dirty="0">
              <a:solidFill>
                <a:srgbClr val="FF0000"/>
              </a:solidFill>
            </a:endParaRPr>
          </a:p>
        </p:txBody>
      </p:sp>
      <p:pic>
        <p:nvPicPr>
          <p:cNvPr id="77" name="Graphic 76">
            <a:extLst>
              <a:ext uri="{FF2B5EF4-FFF2-40B4-BE49-F238E27FC236}">
                <a16:creationId xmlns:a16="http://schemas.microsoft.com/office/drawing/2014/main" id="{5198FF12-A1D8-BB6C-9B48-675C94131D95}"/>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6388527" y="17331002"/>
            <a:ext cx="8936358" cy="4553806"/>
          </a:xfrm>
          <a:prstGeom prst="rect">
            <a:avLst/>
          </a:prstGeom>
        </p:spPr>
      </p:pic>
      <p:sp>
        <p:nvSpPr>
          <p:cNvPr id="78" name="Google Shape;23;p1">
            <a:extLst>
              <a:ext uri="{FF2B5EF4-FFF2-40B4-BE49-F238E27FC236}">
                <a16:creationId xmlns:a16="http://schemas.microsoft.com/office/drawing/2014/main" id="{72CF2D8A-9D50-7AF8-988E-38B5E1FFED7E}"/>
              </a:ext>
            </a:extLst>
          </p:cNvPr>
          <p:cNvSpPr txBox="1"/>
          <p:nvPr/>
        </p:nvSpPr>
        <p:spPr>
          <a:xfrm>
            <a:off x="18244650" y="16789841"/>
            <a:ext cx="6583910" cy="38468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1900" dirty="0">
                <a:solidFill>
                  <a:srgbClr val="FF0000"/>
                </a:solidFill>
              </a:rPr>
              <a:t>Structure for checking the metrics</a:t>
            </a:r>
            <a:endParaRPr sz="1900" dirty="0">
              <a:solidFill>
                <a:srgbClr val="FF0000"/>
              </a:solidFill>
            </a:endParaRPr>
          </a:p>
        </p:txBody>
      </p:sp>
      <p:sp>
        <p:nvSpPr>
          <p:cNvPr id="79" name="Google Shape;23;p1">
            <a:extLst>
              <a:ext uri="{FF2B5EF4-FFF2-40B4-BE49-F238E27FC236}">
                <a16:creationId xmlns:a16="http://schemas.microsoft.com/office/drawing/2014/main" id="{9440F462-592A-D534-56C7-8BD1A58E311B}"/>
              </a:ext>
            </a:extLst>
          </p:cNvPr>
          <p:cNvSpPr txBox="1"/>
          <p:nvPr/>
        </p:nvSpPr>
        <p:spPr>
          <a:xfrm>
            <a:off x="11089276" y="15927749"/>
            <a:ext cx="4840691" cy="38468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None/>
            </a:pPr>
            <a:r>
              <a:rPr lang="en-US" sz="1900" dirty="0">
                <a:solidFill>
                  <a:srgbClr val="FF0000"/>
                </a:solidFill>
              </a:rPr>
              <a:t>Final version of the FAIR Metrics</a:t>
            </a:r>
            <a:endParaRPr sz="1900" dirty="0">
              <a:solidFill>
                <a:srgbClr val="FF0000"/>
              </a:solidFill>
            </a:endParaRPr>
          </a:p>
        </p:txBody>
      </p:sp>
      <p:pic>
        <p:nvPicPr>
          <p:cNvPr id="35" name="Graphic 34">
            <a:extLst>
              <a:ext uri="{FF2B5EF4-FFF2-40B4-BE49-F238E27FC236}">
                <a16:creationId xmlns:a16="http://schemas.microsoft.com/office/drawing/2014/main" id="{A4695B84-4E3C-8107-F9EC-F17047DE5FF5}"/>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303845" y="2477227"/>
            <a:ext cx="2889025" cy="28890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3401</TotalTime>
  <Words>1413</Words>
  <Application>Microsoft Macintosh PowerPoint</Application>
  <PresentationFormat>Custom</PresentationFormat>
  <Paragraphs>80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Devanagari MT</vt:lpstr>
      <vt:lpstr>Helvetica Neue</vt:lpstr>
      <vt:lpstr>Arial</vt:lpstr>
      <vt:lpstr>Domine</vt:lpstr>
      <vt:lpstr>Calibri</vt:lpstr>
      <vt:lpstr>Montserrat ExtraBold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EDUARDO JAVIER FIGUEROA-SANTIAGO</cp:lastModifiedBy>
  <cp:revision>12</cp:revision>
  <dcterms:modified xsi:type="dcterms:W3CDTF">2026-02-26T16:15:28Z</dcterms:modified>
</cp:coreProperties>
</file>